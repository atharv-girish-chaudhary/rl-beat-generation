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RL-Based Beat Generation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Dataset Loading &amp; Processing — Progress Report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914400" y="3657600"/>
            <a:ext cx="1828800" cy="36576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402336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Taha Oguzhan Ucar  |  Atharv Girish Chaudhary  |  Yixun Li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MS Artificial Intelligence — Northeastern University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914400" y="5486400"/>
            <a:ext cx="3200400" cy="457200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5486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Phase: Dataset Setup Complete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 RL agent learns to produce beats by placing sounds on a grid — guided by music rules and a learned discriminator.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31520" y="1828800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31520" y="182880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68680" y="20574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68680" y="2057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25603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Drums Only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31089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layers  |  PPO  |  Rules: 90%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389120" y="1828800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389120" y="182880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526280" y="20574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526280" y="2057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572000" y="25603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Full Instruments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72000" y="31089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layers  |  PPO  |  Rules: 50%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8046720" y="1828800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046720" y="182880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8183880" y="20574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183880" y="2057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229600" y="25603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Audio Effects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229600" y="31089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layers + FX  |  SAC  |  Disc: 80%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phase requires different datasets: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31520" y="4754880"/>
            <a:ext cx="2011680" cy="347472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31520" y="47548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Freesound Samples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2926080" y="47548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Agent's sound library — the actual sounds placed on the grid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601200" y="475488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Phases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731520" y="5166360"/>
            <a:ext cx="2011680" cy="347472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31520" y="51663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Groove MIDI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2926080" y="516636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drum patterns → train L1 discriminator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601200" y="51663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1 + 2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731520" y="5577840"/>
            <a:ext cx="2011680" cy="347472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731520" y="55778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Slakh2100 (Baby)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2926080" y="557784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multi-instrument patterns → train L1 discriminator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601200" y="55778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731520" y="5989320"/>
            <a:ext cx="2011680" cy="347472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731520" y="59893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MUSDB18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2926080" y="59893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audio spectrograms → fine-tune AST (L2 discriminator)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9601200" y="59893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Order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followed a dependency-driven order: each step depends on the one before it.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1097280" y="16459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097280" y="1645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828800" y="16276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Datasets + Preprocessing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828800" y="19385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Download sounds, convert MIDI to grids, compute spectrograms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1325880" y="2148840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097280" y="242316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097280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828800" y="24048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828800" y="27157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Needs SampleLibrary from Step 1 to define action space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1325880" y="2926080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097280" y="32004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097280" y="3200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828800" y="31821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Reward Functions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828800" y="34930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Plug into environment, test on hand-crafted grids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1325880" y="3703320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1097280" y="3977639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1097280" y="397763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828800" y="39593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Policy + Critic Networks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828800" y="42702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Input/output shapes defined by environment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1325880" y="4480559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1097280" y="47548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1097280" y="4754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1828800" y="47365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 Phase 1 (Rules Only)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828800" y="504748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Sanity check — can the agent learn basic drums?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1325880" y="5257800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097280" y="553212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1097280" y="5532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828800" y="55138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Discriminator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828800" y="58247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Adversarial training with hybrid reward signal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400800" y="2331720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400800" y="23317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ARE HERE — Step 1 Complete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1: Freesound Samples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agent's sound library — actual WAV files placed on the beat grid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we sourced and processed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 Connected to Freesound API via OAuth2 authentication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731520" y="257860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 Searched by instrument tags (kick, snare, bass, etc.)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731520" y="296265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 Downloaded top-rated candidates per category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731520" y="334670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 Preprocessed: resample to 44100Hz, mono, normalize to -6dB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731520" y="373075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 Trimmed/padded to fixed duration per category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Current inventory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6400800" y="2194560"/>
            <a:ext cx="5029200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640080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740664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841248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941832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042416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6400800" y="2560320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640080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0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40664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Kick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841248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41832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0.50s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042416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6400800" y="2907791"/>
            <a:ext cx="502920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640080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740664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Snare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841248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941832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0.50s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1042416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6400800" y="3255263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640080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740664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Hi-hat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41248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941832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0.50s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1042416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400800" y="3602736"/>
            <a:ext cx="502920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640080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740664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Clap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841248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941832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0.50s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1042416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6400800" y="395020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640080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740664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Bass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841248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941832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1.00s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042416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6400800" y="4297679"/>
            <a:ext cx="502920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640080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5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740664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Melody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841248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941832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1.00s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1042416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6400800" y="4645152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40080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6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740664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Pad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841248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941832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2.00s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1042416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6400800" y="4992624"/>
            <a:ext cx="502920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640080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7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740664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841248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941832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1.00s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1042416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239" name="Google Shape;239;p16"/>
          <p:cNvSpPr/>
          <p:nvPr/>
        </p:nvSpPr>
        <p:spPr>
          <a:xfrm>
            <a:off x="6400800" y="5394960"/>
            <a:ext cx="5029200" cy="54864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6537960" y="53949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Melody, Pad, FX need more samples — will fix before Phase 2. Not blocking Phase 1.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2: Groove MIDI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1,150 professional drum performances → 42,133 quantized beat grids</a:t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73152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73152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42,133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Beat grids</a:t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356616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3566160" y="1737360"/>
            <a:ext cx="256032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356616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8 × 16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Grid shape</a:t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640080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6400800" y="1737360"/>
            <a:ext cx="2560320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640080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12.7%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density</a:t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923544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9235440" y="17373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923544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Music genres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Processing Pipeline</a:t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731520" y="393192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731520" y="39319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1645920" y="3931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MIDI-only zip from Google Magenta (3MB)</a:t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4480559" y="393192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4480559" y="39319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5394959" y="3931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MIDI events using pretty_midi library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8229600" y="393192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8229600" y="39319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9144000" y="3931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Drum hits → 4 layers (kick, snare, hihat, clap)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731520" y="475488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731520" y="47548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Quantize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1645920" y="4754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Snap timing to nearest 16th-note position</a:t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4480559" y="475488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4480559" y="47548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Slice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5394959" y="4754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Cut performances into single-bar (16-step) segments</a:t>
            </a: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8229600" y="475488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8229600" y="47548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9144000" y="4754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Stack all grids → numpy array (42133, 8, 16)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Validation: Layers 4-7 all zeros (correct — drums only)  |  Kicks on strong beats confirmed  |  Grids visualized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3: BabySlakh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20-track subset of Slakh2100 — multi-instrument MIDI → 2,450 full 8-layer grids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73152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73152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2,450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Beat grids</a:t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356616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3566160" y="17373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356616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99.6%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Have tonal content</a:t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640080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6400800" y="1737360"/>
            <a:ext cx="256032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640080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20.2%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Tonal density</a:t>
            </a:r>
            <a:endParaRPr/>
          </a:p>
        </p:txBody>
      </p:sp>
      <p:sp>
        <p:nvSpPr>
          <p:cNvPr id="303" name="Google Shape;303;p18"/>
          <p:cNvSpPr/>
          <p:nvPr/>
        </p:nvSpPr>
        <p:spPr>
          <a:xfrm>
            <a:off x="923544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9235440" y="1737360"/>
            <a:ext cx="2560320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923544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20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Tracks (upgradeable)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731520" y="33832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Per-Layer Activity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731520" y="39319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Kick</a:t>
            </a:r>
            <a:endParaRPr/>
          </a:p>
        </p:txBody>
      </p:sp>
      <p:sp>
        <p:nvSpPr>
          <p:cNvPr id="309" name="Google Shape;309;p18"/>
          <p:cNvSpPr/>
          <p:nvPr/>
        </p:nvSpPr>
        <p:spPr>
          <a:xfrm>
            <a:off x="1828800" y="3977639"/>
            <a:ext cx="194767" cy="22860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2115007" y="39319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14.2%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3566160" y="39319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Snare</a:t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4663440" y="3977639"/>
            <a:ext cx="139903" cy="22860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4894783" y="39319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10.2%</a:t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6400800" y="39319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Hi-hat</a:t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7498079" y="3977639"/>
            <a:ext cx="419709" cy="22860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8009229" y="39319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30.6%</a:t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9235440" y="39319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Clap</a:t>
            </a:r>
            <a:endParaRPr/>
          </a:p>
        </p:txBody>
      </p:sp>
      <p:sp>
        <p:nvSpPr>
          <p:cNvPr id="318" name="Google Shape;318;p18"/>
          <p:cNvSpPr/>
          <p:nvPr/>
        </p:nvSpPr>
        <p:spPr>
          <a:xfrm>
            <a:off x="10332720" y="3977639"/>
            <a:ext cx="106984" cy="22860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10531144" y="39319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7.8%</a:t>
            </a: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731520" y="4526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Bass</a:t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1828800" y="4572000"/>
            <a:ext cx="268833" cy="2286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2189073" y="4526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19.6%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3566160" y="4526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Melody</a:t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4663440" y="4572000"/>
            <a:ext cx="517093" cy="2286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5271973" y="4526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37.7%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6400800" y="4526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Pad</a:t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7498079" y="4572000"/>
            <a:ext cx="175564" cy="2286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7765084" y="4526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12.8%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9235440" y="45262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>
            <a:off x="10332720" y="4572000"/>
            <a:ext cx="144018" cy="2286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 txBox="1"/>
          <p:nvPr/>
        </p:nvSpPr>
        <p:spPr>
          <a:xfrm>
            <a:off x="10568178" y="4526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10.5%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Difference from Groove MIDI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731520" y="57607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Groove MIDI has drums only (layers 4-7 empty). BabySlakh has all 8 layers populated — this is what the discriminator needs in Phase 2 to learn real multi-instrument arrangements. Can upgrade to full Slakh2100 (2,100 tracks) for ~200K+ grids.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4: MUSDB18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150 full-length professional songs → 31,323 mel-spectrogram patches for AST fine-tuning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73152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3152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31,323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Spectrogram patches</a:t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356616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3566160" y="1737360"/>
            <a:ext cx="256032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356616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128×130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Patch dimensions</a:t>
            </a: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640080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6400800" y="1737360"/>
            <a:ext cx="2560320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 txBox="1"/>
          <p:nvPr/>
        </p:nvSpPr>
        <p:spPr>
          <a:xfrm>
            <a:off x="640080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4.2 GB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Processed size</a:t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923544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9235440" y="17373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923544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150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Full-length songs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Processing Pipeline</a:t>
            </a:r>
            <a:endParaRPr/>
          </a:p>
        </p:txBody>
      </p:sp>
      <p:sp>
        <p:nvSpPr>
          <p:cNvPr id="358" name="Google Shape;358;p19"/>
          <p:cNvSpPr/>
          <p:nvPr/>
        </p:nvSpPr>
        <p:spPr>
          <a:xfrm>
            <a:off x="731520" y="3931920"/>
            <a:ext cx="109728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731520" y="39319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1920240" y="39319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MUSDB18 from Zenodo (4.7GB .stem.mp4)</a:t>
            </a: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4480559" y="393192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4480559" y="39319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5394959" y="39319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 stems using stempeg (drums, bass, other)</a:t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8229600" y="3931920"/>
            <a:ext cx="109728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8229600" y="39319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Resample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9418320" y="39319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44100Hz → 22050Hz, stereo → mono</a:t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731520" y="475488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731520" y="47548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/>
          </a:p>
        </p:txBody>
      </p:sp>
      <p:sp>
        <p:nvSpPr>
          <p:cNvPr id="369" name="Google Shape;369;p19"/>
          <p:cNvSpPr txBox="1"/>
          <p:nvPr/>
        </p:nvSpPr>
        <p:spPr>
          <a:xfrm>
            <a:off x="1645920" y="4754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Slice each stem into 3-second chunks</a:t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4480559" y="4754880"/>
            <a:ext cx="109728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4480559" y="47548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Spectrogram</a:t>
            </a:r>
            <a:endParaRPr/>
          </a:p>
        </p:txBody>
      </p:sp>
      <p:sp>
        <p:nvSpPr>
          <p:cNvPr id="372" name="Google Shape;372;p19"/>
          <p:cNvSpPr txBox="1"/>
          <p:nvPr/>
        </p:nvSpPr>
        <p:spPr>
          <a:xfrm>
            <a:off x="5669279" y="4754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128-band mel-spectrogram per chunk</a:t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8229600" y="4754880"/>
            <a:ext cx="82296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8229600" y="47548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/>
          </a:p>
        </p:txBody>
      </p:sp>
      <p:sp>
        <p:nvSpPr>
          <p:cNvPr id="375" name="Google Shape;375;p19"/>
          <p:cNvSpPr txBox="1"/>
          <p:nvPr/>
        </p:nvSpPr>
        <p:spPr>
          <a:xfrm>
            <a:off x="9144000" y="4754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Stack all patches → numpy array (31323, 128, 130)</a:t>
            </a:r>
            <a:endParaRPr/>
          </a:p>
        </p:txBody>
      </p:sp>
      <p:sp>
        <p:nvSpPr>
          <p:cNvPr id="376" name="Google Shape;376;p19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Validation: Value range [-80, 0] dB  |  No NaN values  |  No silent patches  |  Spectrograms visualized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File Structure</a:t>
            </a:r>
            <a:endParaRPr/>
          </a:p>
        </p:txBody>
      </p:sp>
      <p:sp>
        <p:nvSpPr>
          <p:cNvPr id="383" name="Google Shape;383;p20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Everything stored on Google Drive — persistent across Colab sessions</a:t>
            </a: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731520" y="1645920"/>
            <a:ext cx="640080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731520" y="1645920"/>
            <a:ext cx="6400800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 txBox="1"/>
          <p:nvPr/>
        </p:nvSpPr>
        <p:spPr>
          <a:xfrm>
            <a:off x="1005840" y="1874519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datasets/</a:t>
            </a:r>
            <a:endParaRPr/>
          </a:p>
        </p:txBody>
      </p:sp>
      <p:sp>
        <p:nvSpPr>
          <p:cNvPr id="387" name="Google Shape;387;p20"/>
          <p:cNvSpPr txBox="1"/>
          <p:nvPr/>
        </p:nvSpPr>
        <p:spPr>
          <a:xfrm>
            <a:off x="1005840" y="213055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samples/</a:t>
            </a:r>
            <a:endParaRPr/>
          </a:p>
        </p:txBody>
      </p:sp>
      <p:sp>
        <p:nvSpPr>
          <p:cNvPr id="388" name="Google Shape;388;p20"/>
          <p:cNvSpPr txBox="1"/>
          <p:nvPr/>
        </p:nvSpPr>
        <p:spPr>
          <a:xfrm>
            <a:off x="1005840" y="2386584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kick/ (30)  snare/ (30)  hihat/ (25)  clap/ (20)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1005840" y="2642615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bass/ (30)  melody/ (2)  pad/ (1)  fx/ (1)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1005840" y="289864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samples_processed/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1005840" y="3154680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Same 8 folders — standardized WAV files</a:t>
            </a:r>
            <a:endParaRPr/>
          </a:p>
        </p:txBody>
      </p:sp>
      <p:sp>
        <p:nvSpPr>
          <p:cNvPr id="392" name="Google Shape;392;p20"/>
          <p:cNvSpPr txBox="1"/>
          <p:nvPr/>
        </p:nvSpPr>
        <p:spPr>
          <a:xfrm>
            <a:off x="1005840" y="341071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groove_midi/</a:t>
            </a:r>
            <a:endParaRPr/>
          </a:p>
        </p:txBody>
      </p:sp>
      <p:sp>
        <p:nvSpPr>
          <p:cNvPr id="393" name="Google Shape;393;p20"/>
          <p:cNvSpPr txBox="1"/>
          <p:nvPr/>
        </p:nvSpPr>
        <p:spPr>
          <a:xfrm>
            <a:off x="1005840" y="3666744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Raw MIDI files from Google Magenta</a:t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1005840" y="3922776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groove_grids.npy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1005840" y="417880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42,133 drum grids — shape (42133, 8, 16)</a:t>
            </a:r>
            <a:endParaRPr/>
          </a:p>
        </p:txBody>
      </p:sp>
      <p:sp>
        <p:nvSpPr>
          <p:cNvPr id="396" name="Google Shape;396;p20"/>
          <p:cNvSpPr txBox="1"/>
          <p:nvPr/>
        </p:nvSpPr>
        <p:spPr>
          <a:xfrm>
            <a:off x="1005840" y="4434840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babyslakh/</a:t>
            </a:r>
            <a:endParaRPr/>
          </a:p>
        </p:txBody>
      </p:sp>
      <p:sp>
        <p:nvSpPr>
          <p:cNvPr id="397" name="Google Shape;397;p20"/>
          <p:cNvSpPr txBox="1"/>
          <p:nvPr/>
        </p:nvSpPr>
        <p:spPr>
          <a:xfrm>
            <a:off x="1005840" y="469087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20 tracks with MIDI + metadata</a:t>
            </a:r>
            <a:endParaRPr/>
          </a:p>
        </p:txBody>
      </p:sp>
      <p:sp>
        <p:nvSpPr>
          <p:cNvPr id="398" name="Google Shape;398;p20"/>
          <p:cNvSpPr txBox="1"/>
          <p:nvPr/>
        </p:nvSpPr>
        <p:spPr>
          <a:xfrm>
            <a:off x="1005840" y="4946904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slakh_grids.npy</a:t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1005840" y="5202936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2,450 multi-instrument grids — shape (2450, 8, 16)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1005840" y="545896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musdb18/</a:t>
            </a:r>
            <a:endParaRPr/>
          </a:p>
        </p:txBody>
      </p:sp>
      <p:sp>
        <p:nvSpPr>
          <p:cNvPr id="401" name="Google Shape;401;p20"/>
          <p:cNvSpPr txBox="1"/>
          <p:nvPr/>
        </p:nvSpPr>
        <p:spPr>
          <a:xfrm>
            <a:off x="1005840" y="5715000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150 songs as .stem.mp4 files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1005840" y="597103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musdb_spectrograms.npy</a:t>
            </a:r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1005840" y="6227064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31,323 patches — shape (31323, 128, 130)</a:t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777240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Storage Summary</a:t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7772400" y="2194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Freesound (raw)</a:t>
            </a:r>
            <a:endParaRPr/>
          </a:p>
        </p:txBody>
      </p:sp>
      <p:sp>
        <p:nvSpPr>
          <p:cNvPr id="406" name="Google Shape;406;p20"/>
          <p:cNvSpPr txBox="1"/>
          <p:nvPr/>
        </p:nvSpPr>
        <p:spPr>
          <a:xfrm>
            <a:off x="10058400" y="21945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~500 MB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7772400" y="25786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Freesound (processed)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10058400" y="25786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~200 MB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7772400" y="29626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Groove MIDI (raw)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10058400" y="296265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MB</a:t>
            </a:r>
            <a:endParaRPr/>
          </a:p>
        </p:txBody>
      </p:sp>
      <p:sp>
        <p:nvSpPr>
          <p:cNvPr id="411" name="Google Shape;411;p20"/>
          <p:cNvSpPr txBox="1"/>
          <p:nvPr/>
        </p:nvSpPr>
        <p:spPr>
          <a:xfrm>
            <a:off x="7772400" y="334670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Groove grids (.npy)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10058400" y="334670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~5 MB</a:t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7772400" y="37307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BabySlakh (raw)</a:t>
            </a:r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10058400" y="37307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~1.4 GB</a:t>
            </a:r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7772400" y="4114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Slakh grids (.npy)</a:t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10058400" y="41148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~0.3 MB</a:t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7772400" y="449884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MUSDB18 (raw)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10058400" y="44988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~4.7 GB</a:t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7772400" y="48828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MUSDB spectrograms</a:t>
            </a:r>
            <a:endParaRPr/>
          </a:p>
        </p:txBody>
      </p:sp>
      <p:sp>
        <p:nvSpPr>
          <p:cNvPr id="420" name="Google Shape;420;p20"/>
          <p:cNvSpPr txBox="1"/>
          <p:nvPr/>
        </p:nvSpPr>
        <p:spPr>
          <a:xfrm>
            <a:off x="10058400" y="488289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~4.2 GB</a:t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7772400" y="5266944"/>
            <a:ext cx="365760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 txBox="1"/>
          <p:nvPr/>
        </p:nvSpPr>
        <p:spPr>
          <a:xfrm>
            <a:off x="7772400" y="5358383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</p:txBody>
      </p:sp>
      <p:sp>
        <p:nvSpPr>
          <p:cNvPr id="423" name="Google Shape;423;p20"/>
          <p:cNvSpPr txBox="1"/>
          <p:nvPr/>
        </p:nvSpPr>
        <p:spPr>
          <a:xfrm>
            <a:off x="10058400" y="5358383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~11 GB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Phase Readiness</a:t>
            </a:r>
            <a:endParaRPr/>
          </a:p>
        </p:txBody>
      </p:sp>
      <p:sp>
        <p:nvSpPr>
          <p:cNvPr id="430" name="Google Shape;430;p21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What's ready for each training phase</a:t>
            </a:r>
            <a:endParaRPr/>
          </a:p>
        </p:txBody>
      </p:sp>
      <p:sp>
        <p:nvSpPr>
          <p:cNvPr id="431" name="Google Shape;431;p21"/>
          <p:cNvSpPr/>
          <p:nvPr/>
        </p:nvSpPr>
        <p:spPr>
          <a:xfrm>
            <a:off x="731520" y="173736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914400" y="19659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Phase 1: Drums Only</a:t>
            </a: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914400" y="2606040"/>
            <a:ext cx="1371600" cy="3200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91440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1005840" y="31089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1280160" y="3108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Drum samples (105 files)</a:t>
            </a:r>
            <a:endParaRPr/>
          </a:p>
        </p:txBody>
      </p:sp>
      <p:sp>
        <p:nvSpPr>
          <p:cNvPr id="438" name="Google Shape;438;p21"/>
          <p:cNvSpPr txBox="1"/>
          <p:nvPr/>
        </p:nvSpPr>
        <p:spPr>
          <a:xfrm>
            <a:off x="1005840" y="35204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439" name="Google Shape;439;p21"/>
          <p:cNvSpPr txBox="1"/>
          <p:nvPr/>
        </p:nvSpPr>
        <p:spPr>
          <a:xfrm>
            <a:off x="1280160" y="35204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Groove MIDI grids (42,133)</a:t>
            </a:r>
            <a:endParaRPr/>
          </a:p>
        </p:txBody>
      </p:sp>
      <p:sp>
        <p:nvSpPr>
          <p:cNvPr id="440" name="Google Shape;440;p21"/>
          <p:cNvSpPr txBox="1"/>
          <p:nvPr/>
        </p:nvSpPr>
        <p:spPr>
          <a:xfrm>
            <a:off x="1005840" y="39319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41" name="Google Shape;441;p21"/>
          <p:cNvSpPr txBox="1"/>
          <p:nvPr/>
        </p:nvSpPr>
        <p:spPr>
          <a:xfrm>
            <a:off x="1280160" y="3931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1005840" y="43434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1280160" y="4343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Rule-based rewards</a:t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1005840" y="47548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45" name="Google Shape;445;p21"/>
          <p:cNvSpPr txBox="1"/>
          <p:nvPr/>
        </p:nvSpPr>
        <p:spPr>
          <a:xfrm>
            <a:off x="1280160" y="47548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PPO agent</a:t>
            </a:r>
            <a:endParaRPr/>
          </a:p>
        </p:txBody>
      </p:sp>
      <p:sp>
        <p:nvSpPr>
          <p:cNvPr id="446" name="Google Shape;446;p21"/>
          <p:cNvSpPr/>
          <p:nvPr/>
        </p:nvSpPr>
        <p:spPr>
          <a:xfrm>
            <a:off x="4480559" y="173736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4480559" y="173736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4663440" y="19659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Phase 2: Full Instruments</a:t>
            </a:r>
            <a:endParaRPr/>
          </a:p>
        </p:txBody>
      </p:sp>
      <p:sp>
        <p:nvSpPr>
          <p:cNvPr id="449" name="Google Shape;449;p21"/>
          <p:cNvSpPr/>
          <p:nvPr/>
        </p:nvSpPr>
        <p:spPr>
          <a:xfrm>
            <a:off x="4663440" y="2606040"/>
            <a:ext cx="137160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466344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451" name="Google Shape;451;p21"/>
          <p:cNvSpPr txBox="1"/>
          <p:nvPr/>
        </p:nvSpPr>
        <p:spPr>
          <a:xfrm>
            <a:off x="4754879" y="31089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452" name="Google Shape;452;p21"/>
          <p:cNvSpPr txBox="1"/>
          <p:nvPr/>
        </p:nvSpPr>
        <p:spPr>
          <a:xfrm>
            <a:off x="5029199" y="3108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Drum samples</a:t>
            </a:r>
            <a:endParaRPr/>
          </a:p>
        </p:txBody>
      </p:sp>
      <p:sp>
        <p:nvSpPr>
          <p:cNvPr id="453" name="Google Shape;453;p21"/>
          <p:cNvSpPr txBox="1"/>
          <p:nvPr/>
        </p:nvSpPr>
        <p:spPr>
          <a:xfrm>
            <a:off x="4754879" y="35204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454" name="Google Shape;454;p21"/>
          <p:cNvSpPr txBox="1"/>
          <p:nvPr/>
        </p:nvSpPr>
        <p:spPr>
          <a:xfrm>
            <a:off x="5029199" y="35204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Slakh grids (2,450)</a:t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4754879" y="39319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56" name="Google Shape;456;p21"/>
          <p:cNvSpPr txBox="1"/>
          <p:nvPr/>
        </p:nvSpPr>
        <p:spPr>
          <a:xfrm>
            <a:off x="5029199" y="3931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Melody/Pad/FX samples</a:t>
            </a:r>
            <a:endParaRPr/>
          </a:p>
        </p:txBody>
      </p:sp>
      <p:sp>
        <p:nvSpPr>
          <p:cNvPr id="457" name="Google Shape;457;p21"/>
          <p:cNvSpPr txBox="1"/>
          <p:nvPr/>
        </p:nvSpPr>
        <p:spPr>
          <a:xfrm>
            <a:off x="4754879" y="43434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58" name="Google Shape;458;p21"/>
          <p:cNvSpPr txBox="1"/>
          <p:nvPr/>
        </p:nvSpPr>
        <p:spPr>
          <a:xfrm>
            <a:off x="5029199" y="4343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L1 discriminator</a:t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4754879" y="47548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60" name="Google Shape;460;p21"/>
          <p:cNvSpPr txBox="1"/>
          <p:nvPr/>
        </p:nvSpPr>
        <p:spPr>
          <a:xfrm>
            <a:off x="5029199" y="47548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Expanded action space</a:t>
            </a: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8229600" y="173736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8229600" y="173736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8412480" y="19659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Phase 3: Audio Effects</a:t>
            </a: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8412480" y="2606040"/>
            <a:ext cx="1371600" cy="3200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841248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READY</a:t>
            </a:r>
            <a:endParaRPr/>
          </a:p>
        </p:txBody>
      </p:sp>
      <p:sp>
        <p:nvSpPr>
          <p:cNvPr id="466" name="Google Shape;466;p21"/>
          <p:cNvSpPr txBox="1"/>
          <p:nvPr/>
        </p:nvSpPr>
        <p:spPr>
          <a:xfrm>
            <a:off x="8503920" y="31089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467" name="Google Shape;467;p21"/>
          <p:cNvSpPr txBox="1"/>
          <p:nvPr/>
        </p:nvSpPr>
        <p:spPr>
          <a:xfrm>
            <a:off x="8778240" y="3108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MUSDB18 spectrograms (31,323)</a:t>
            </a:r>
            <a:endParaRPr/>
          </a:p>
        </p:txBody>
      </p:sp>
      <p:sp>
        <p:nvSpPr>
          <p:cNvPr id="468" name="Google Shape;468;p21"/>
          <p:cNvSpPr txBox="1"/>
          <p:nvPr/>
        </p:nvSpPr>
        <p:spPr>
          <a:xfrm>
            <a:off x="8503920" y="35204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69" name="Google Shape;469;p21"/>
          <p:cNvSpPr txBox="1"/>
          <p:nvPr/>
        </p:nvSpPr>
        <p:spPr>
          <a:xfrm>
            <a:off x="8778240" y="35204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AST model</a:t>
            </a:r>
            <a:endParaRPr/>
          </a:p>
        </p:txBody>
      </p:sp>
      <p:sp>
        <p:nvSpPr>
          <p:cNvPr id="470" name="Google Shape;470;p21"/>
          <p:cNvSpPr txBox="1"/>
          <p:nvPr/>
        </p:nvSpPr>
        <p:spPr>
          <a:xfrm>
            <a:off x="8503920" y="39319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71" name="Google Shape;471;p21"/>
          <p:cNvSpPr txBox="1"/>
          <p:nvPr/>
        </p:nvSpPr>
        <p:spPr>
          <a:xfrm>
            <a:off x="8778240" y="3931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SAC algorithm</a:t>
            </a:r>
            <a:endParaRPr/>
          </a:p>
        </p:txBody>
      </p:sp>
      <p:sp>
        <p:nvSpPr>
          <p:cNvPr id="472" name="Google Shape;472;p21"/>
          <p:cNvSpPr txBox="1"/>
          <p:nvPr/>
        </p:nvSpPr>
        <p:spPr>
          <a:xfrm>
            <a:off x="8503920" y="43434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73" name="Google Shape;473;p21"/>
          <p:cNvSpPr txBox="1"/>
          <p:nvPr/>
        </p:nvSpPr>
        <p:spPr>
          <a:xfrm>
            <a:off x="8778240" y="4343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Audio renderer</a:t>
            </a:r>
            <a:endParaRPr/>
          </a:p>
        </p:txBody>
      </p:sp>
      <p:sp>
        <p:nvSpPr>
          <p:cNvPr id="474" name="Google Shape;474;p21"/>
          <p:cNvSpPr txBox="1"/>
          <p:nvPr/>
        </p:nvSpPr>
        <p:spPr>
          <a:xfrm>
            <a:off x="8503920" y="47548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75" name="Google Shape;475;p21"/>
          <p:cNvSpPr txBox="1"/>
          <p:nvPr/>
        </p:nvSpPr>
        <p:spPr>
          <a:xfrm>
            <a:off x="8778240" y="47548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Effect parameter heads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</a:t>
            </a: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731520" y="146304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731520" y="14630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/>
          </a:p>
        </p:txBody>
      </p:sp>
      <p:sp>
        <p:nvSpPr>
          <p:cNvPr id="484" name="Google Shape;484;p22"/>
          <p:cNvSpPr txBox="1"/>
          <p:nvPr/>
        </p:nvSpPr>
        <p:spPr>
          <a:xfrm>
            <a:off x="2103120" y="1417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BeatGridEnv</a:t>
            </a:r>
            <a:endParaRPr/>
          </a:p>
        </p:txBody>
      </p:sp>
      <p:sp>
        <p:nvSpPr>
          <p:cNvPr id="485" name="Google Shape;485;p22"/>
          <p:cNvSpPr txBox="1"/>
          <p:nvPr/>
        </p:nvSpPr>
        <p:spPr>
          <a:xfrm>
            <a:off x="2103120" y="1783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Gymnasium environment with 8×16 grid, MultiDiscrete action space, phase masking</a:t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731520" y="224028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 txBox="1"/>
          <p:nvPr/>
        </p:nvSpPr>
        <p:spPr>
          <a:xfrm>
            <a:off x="731520" y="22402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/>
          </a:p>
        </p:txBody>
      </p:sp>
      <p:sp>
        <p:nvSpPr>
          <p:cNvPr id="488" name="Google Shape;488;p22"/>
          <p:cNvSpPr txBox="1"/>
          <p:nvPr/>
        </p:nvSpPr>
        <p:spPr>
          <a:xfrm>
            <a:off x="2103120" y="2194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 reward functions</a:t>
            </a:r>
            <a:endParaRPr/>
          </a:p>
        </p:txBody>
      </p:sp>
      <p:sp>
        <p:nvSpPr>
          <p:cNvPr id="489" name="Google Shape;489;p22"/>
          <p:cNvSpPr txBox="1"/>
          <p:nvPr/>
        </p:nvSpPr>
        <p:spPr>
          <a:xfrm>
            <a:off x="2103120" y="2560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rule-based sub-rewards + compatibility scoring, tested on hand-crafted grids</a:t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731520" y="301752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 txBox="1"/>
          <p:nvPr/>
        </p:nvSpPr>
        <p:spPr>
          <a:xfrm>
            <a:off x="731520" y="301752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492" name="Google Shape;492;p22"/>
          <p:cNvSpPr txBox="1"/>
          <p:nvPr/>
        </p:nvSpPr>
        <p:spPr>
          <a:xfrm>
            <a:off x="2103120" y="2971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policy/critic networks</a:t>
            </a:r>
            <a:endParaRPr/>
          </a:p>
        </p:txBody>
      </p:sp>
      <p:sp>
        <p:nvSpPr>
          <p:cNvPr id="493" name="Google Shape;493;p22"/>
          <p:cNvSpPr txBox="1"/>
          <p:nvPr/>
        </p:nvSpPr>
        <p:spPr>
          <a:xfrm>
            <a:off x="2103120" y="3337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CNN + embedding feature extractor, 3 action heads (layer, step, sample)</a:t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731520" y="379476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>
            <a:off x="731520" y="379476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496" name="Google Shape;496;p22"/>
          <p:cNvSpPr txBox="1"/>
          <p:nvPr/>
        </p:nvSpPr>
        <p:spPr>
          <a:xfrm>
            <a:off x="2103120" y="3749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Phase 1 (rules only)</a:t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210312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PPO agent learns drum patterns — our first sanity check</a:t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731520" y="457200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 txBox="1"/>
          <p:nvPr/>
        </p:nvSpPr>
        <p:spPr>
          <a:xfrm>
            <a:off x="731520" y="45720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P2</a:t>
            </a:r>
            <a:endParaRPr/>
          </a:p>
        </p:txBody>
      </p:sp>
      <p:sp>
        <p:nvSpPr>
          <p:cNvPr id="500" name="Google Shape;500;p22"/>
          <p:cNvSpPr txBox="1"/>
          <p:nvPr/>
        </p:nvSpPr>
        <p:spPr>
          <a:xfrm>
            <a:off x="2103120" y="4526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 melody/pad/fx samples</a:t>
            </a:r>
            <a:endParaRPr/>
          </a:p>
        </p:txBody>
      </p:sp>
      <p:sp>
        <p:nvSpPr>
          <p:cNvPr id="501" name="Google Shape;501;p22"/>
          <p:cNvSpPr txBox="1"/>
          <p:nvPr/>
        </p:nvSpPr>
        <p:spPr>
          <a:xfrm>
            <a:off x="2103120" y="4892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Re-run Freesound API with relaxed queries for tonal categories</a:t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731520" y="534924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731520" y="53492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504" name="Google Shape;504;p22"/>
          <p:cNvSpPr txBox="1"/>
          <p:nvPr/>
        </p:nvSpPr>
        <p:spPr>
          <a:xfrm>
            <a:off x="2103120" y="5303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L1 discriminator</a:t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2103120" y="5669279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Custom transformer encoder trained on Groove MIDI + Slakh grids</a:t>
            </a:r>
            <a:endParaRPr/>
          </a:p>
        </p:txBody>
      </p:sp>
      <p:sp>
        <p:nvSpPr>
          <p:cNvPr id="506" name="Google Shape;506;p2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loading complete — ready to build the environment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