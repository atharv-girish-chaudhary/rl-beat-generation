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"Hi everyone. I'm Taha, working with Atharv and Yixun. Today I'll walk you through the dataset setup for our RL Beat Generation project — a system where an AI agent learns to make beats by placing sounds on a grid through trial and error. We've completed the data loading phase and I'll show you what we built."</a:t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"Quick context. Our system trains in three phases.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Phase 1 — drums only, 4 layers, mostly guided by music rules. Phase 2 — adds bass, melody, pads, and effects to make 8 layers, with a discriminator judging the output. Phase 3 — the agent learns audio effects like reverb, and the discriminator switches to judging actual audio.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Each phase needs different data. Freesound gives us the sounds the agent places. Groove MIDI gives us real drum patterns. Slakh gives us multi-instrument patterns. And MUSDB18 gives us real audio for the final phase.</a:t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"We followed this dependency order — each step needs the one before it. Datasets come first because everything depends on them — the environment needs to know what sounds exist, rewards need frequency info, and the discriminator needs real grids.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We've completed Step 1. Next is building the environment and reward functions."</a:t>
            </a:r>
            <a:endParaRPr/>
          </a:p>
        </p:txBody>
      </p:sp>
      <p:sp>
        <p:nvSpPr>
          <p:cNvPr id="135" name="Google Shape;13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"First dataset — the actual sounds our agent places on the grid.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We connected to the Freesound API, searched by instrument tags, downloaded top-rated candidates, then preprocessed everything — resampled to 44100 Hz, converted to mono, normalized volume, and trimmed to fixed durations.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On the right, the inventory. Drums are fully loaded — 30 kicks, 30 snares, 25 hi-hats, 20 claps, all passing. Bass also has 30. Melody, pad, and FX are low — but Phase 1 only uses drums so this doesn't block us. We'll fix those before Phase 2."</a:t>
            </a:r>
            <a:endParaRPr/>
          </a:p>
        </p:txBody>
      </p:sp>
      <p:sp>
        <p:nvSpPr>
          <p:cNvPr id="173" name="Google Shape;17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"Second dataset — real drum performances from Google Magenta. 1,150 recordings by professional drummers across 18 genres.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We parsed the MIDI, mapped drum hits to our 4 layers, quantized to sixteenth-note positions, and sliced into single-bar segments. Result: 42,133 beat grids.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You can see the actual output here — five random grids from the dataset. Notice layers 0 through 3 have drum activity — kicks, snares, hi-hats — while layers 4 through 7 are completely empty. That's exactly correct for a drums-only dataset. You can also see realistic patterns — kicks on strong beats, hi-hats spread across many steps."</a:t>
            </a:r>
            <a:endParaRPr/>
          </a:p>
        </p:txBody>
      </p:sp>
      <p:sp>
        <p:nvSpPr>
          <p:cNvPr id="243" name="Google Shape;2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"Third dataset — BabySlakh, a 20-track subset of Slakh2100 with full multi-instrument songs. We produced 2,450 grids, and 99.6% have tonal content in layers 4 through 7.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Now compare the visualization here with the previous slide. In Groove MIDI, the bottom half was empty. Here, all 8 layers are active — you can see kick, snare, hi-hat, clap, bass, melody, pad, and FX all populated. Some grids are dense, some are sparse — just like real music.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This is what our discriminator needs in Phase 2 to learn what real multi-instrument arrangements look like. We can upgrade to full Slakh2100 later for about 200,000 grids."</a:t>
            </a:r>
            <a:endParaRPr/>
          </a:p>
        </p:txBody>
      </p:sp>
      <p:sp>
        <p:nvSpPr>
          <p:cNvPr id="269" name="Google Shape;2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"Fourth dataset — MUSDB18, 150 professional songs with separated audio stems. This is the only dataset dealing with actual audio, not MIDI.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We decoded the stem files, extracted drums, bass, and other instruments, sliced into 3-second windows, and computed mel-spectrograms. Result: 31,323 patches.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The visualizations show what these spectrograms look like. The x-axis is time, y-axis is frequency, and brightness is loudness. You can see clear musical structure — low frequencies at the bottom, harmonics spreading upward. The third patch is mostly dark — that's a quieter section. This data won't be used until Phase 3, when we fine-tune the AST model."</a:t>
            </a:r>
            <a:endParaRPr/>
          </a:p>
        </p:txBody>
      </p:sp>
      <p:sp>
        <p:nvSpPr>
          <p:cNvPr id="294" name="Google Shape;2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"Everything lives on Google Drive — about 11 GB total. Raw downloads in their folders, processed numpy files ready to load. We process once, and every future Colab session loads from Drive in seconds."</a:t>
            </a:r>
            <a:endParaRPr/>
          </a:p>
        </p:txBody>
      </p:sp>
      <p:sp>
        <p:nvSpPr>
          <p:cNvPr id="320" name="Google Shape;32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Phase 1 is ready — 105 drum samples and 42,133 grids loaded. We just need to build the environment and agent. Phase 2 is partial — grids are ready but we need more melody, pad, and FX samples. Phase 3's data is fully ready — 31,323 spectrogram patches waiting.</a:t>
            </a:r>
            <a:endParaRPr/>
          </a:p>
        </p:txBody>
      </p:sp>
      <p:sp>
        <p:nvSpPr>
          <p:cNvPr id="367" name="Google Shape;3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Immediate priorities: build the environment and implement reward functions. Then the neural networks and our first training run. The data foundation is solid. We're ready to build. Thank you.</a:t>
            </a:r>
            <a:endParaRPr/>
          </a:p>
        </p:txBody>
      </p:sp>
      <p:sp>
        <p:nvSpPr>
          <p:cNvPr id="419" name="Google Shape;4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RL-Based Beat Generation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Dataset Loading &amp; Processing — Progress Report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914400" y="3657600"/>
            <a:ext cx="1828800" cy="36576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914400" y="402336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Taha Oguzhan Ucar  |  Atharv Girish Chaudhary  |  Yixun Li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MS Artificial Intelligence — Northeastern University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914400" y="5486400"/>
            <a:ext cx="3200400" cy="457200"/>
          </a:xfrm>
          <a:prstGeom prst="roundRect">
            <a:avLst>
              <a:gd fmla="val 16667" name="adj"/>
            </a:avLst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914400" y="54864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Phase: Dataset Setup Complete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1295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Overview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 RL agent learns to produce beats by placing sounds on a grid — guided by music rules and a learned discriminator.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731520" y="1828800"/>
            <a:ext cx="3291840" cy="2011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731520" y="1828800"/>
            <a:ext cx="32918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868680" y="2057400"/>
            <a:ext cx="1097280" cy="365760"/>
          </a:xfrm>
          <a:prstGeom prst="roundRect">
            <a:avLst>
              <a:gd fmla="val 16667" name="adj"/>
            </a:avLst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868680" y="20574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14400" y="256032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Drums Only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14400" y="310896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layers  |  PPO  |  Rules: 90%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4389120" y="1828800"/>
            <a:ext cx="3291840" cy="2011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4389120" y="1828800"/>
            <a:ext cx="329184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526280" y="2057400"/>
            <a:ext cx="1097280" cy="365760"/>
          </a:xfrm>
          <a:prstGeom prst="roundRect">
            <a:avLst>
              <a:gd fmla="val 16667" name="adj"/>
            </a:avLst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4526280" y="20574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4572000" y="256032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Full Instruments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4572000" y="310896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layers  |  PPO  |  Rules: 50%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8046720" y="1828800"/>
            <a:ext cx="3291840" cy="2011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8046720" y="1828800"/>
            <a:ext cx="3291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8183880" y="2057400"/>
            <a:ext cx="1097280" cy="365760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8183880" y="20574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229600" y="256032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Audio Effects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8229600" y="310896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layers + FX  |  SAC  |  Disc: 80%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Each phase requires different datasets: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731520" y="4754880"/>
            <a:ext cx="2011680" cy="347472"/>
          </a:xfrm>
          <a:prstGeom prst="roundRect">
            <a:avLst>
              <a:gd fmla="val 16667" name="adj"/>
            </a:avLst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731520" y="475488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Freesound Samples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2926080" y="475488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Agent's sound library — the actual sounds placed on the grid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9601200" y="475488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 Phases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731520" y="5166360"/>
            <a:ext cx="2011680" cy="347472"/>
          </a:xfrm>
          <a:prstGeom prst="roundRect">
            <a:avLst>
              <a:gd fmla="val 16667" name="adj"/>
            </a:avLst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731520" y="516636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Groove MIDI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2926080" y="516636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 drum patterns → train L1 discriminator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9601200" y="516636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Phase 1 + 2</a:t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731520" y="5577840"/>
            <a:ext cx="2011680" cy="347472"/>
          </a:xfrm>
          <a:prstGeom prst="roundRect">
            <a:avLst>
              <a:gd fmla="val 16667" name="adj"/>
            </a:avLst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731520" y="557784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Slakh2100 (Baby)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2926080" y="557784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 multi-instrument patterns → train L1 discriminator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9601200" y="55778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731520" y="5989320"/>
            <a:ext cx="2011680" cy="347472"/>
          </a:xfrm>
          <a:prstGeom prst="roundRect">
            <a:avLst>
              <a:gd fmla="val 16667" name="adj"/>
            </a:avLst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731520" y="598932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MUSDB18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2926080" y="598932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 audio spectrograms → fine-tune AST (L2 discriminator)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9601200" y="598932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1295C"/>
                </a:solidFill>
                <a:latin typeface="Trebuchet MS"/>
                <a:ea typeface="Trebuchet MS"/>
                <a:cs typeface="Trebuchet MS"/>
                <a:sym typeface="Trebuchet MS"/>
              </a:rPr>
              <a:t>Implementation Order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 followed a dependency-driven order: each step depends on the one before it.</a:t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1097280" y="164592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1097280" y="1645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1828800" y="162763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Datasets + Preprocessing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1828800" y="19385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Download sounds, convert MIDI to grids, compute spectrograms</a:t>
            </a: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1325880" y="2148840"/>
            <a:ext cx="36576" cy="27432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1097280" y="2423160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1097280" y="2423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1828800" y="240487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Environment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1828800" y="271576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Needs SampleLibrary from Step 1 to define action space</a:t>
            </a:r>
            <a:endParaRPr/>
          </a:p>
        </p:txBody>
      </p:sp>
      <p:sp>
        <p:nvSpPr>
          <p:cNvPr id="149" name="Google Shape;149;p15"/>
          <p:cNvSpPr/>
          <p:nvPr/>
        </p:nvSpPr>
        <p:spPr>
          <a:xfrm>
            <a:off x="1325880" y="2926080"/>
            <a:ext cx="36576" cy="27432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1097280" y="320040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1097280" y="3200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1828800" y="318211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Reward Functions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1828800" y="349300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Plug into environment, test on hand-crafted grids</a:t>
            </a:r>
            <a:endParaRPr/>
          </a:p>
        </p:txBody>
      </p:sp>
      <p:sp>
        <p:nvSpPr>
          <p:cNvPr id="154" name="Google Shape;154;p15"/>
          <p:cNvSpPr/>
          <p:nvPr/>
        </p:nvSpPr>
        <p:spPr>
          <a:xfrm>
            <a:off x="1325880" y="3703320"/>
            <a:ext cx="36576" cy="27432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1097280" y="3977639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1097280" y="3977639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1828800" y="395935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Policy + Critic Networks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1828800" y="42702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Input/output shapes defined by environment</a:t>
            </a:r>
            <a:endParaRPr/>
          </a:p>
        </p:txBody>
      </p:sp>
      <p:sp>
        <p:nvSpPr>
          <p:cNvPr id="159" name="Google Shape;159;p15"/>
          <p:cNvSpPr/>
          <p:nvPr/>
        </p:nvSpPr>
        <p:spPr>
          <a:xfrm>
            <a:off x="1325880" y="4480559"/>
            <a:ext cx="36576" cy="27432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1097280" y="47548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 txBox="1"/>
          <p:nvPr/>
        </p:nvSpPr>
        <p:spPr>
          <a:xfrm>
            <a:off x="1097280" y="4754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1828800" y="473659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Train Phase 1 (Rules Only)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1828800" y="504748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Sanity check — can the agent learn basic drums?</a:t>
            </a:r>
            <a:endParaRPr/>
          </a:p>
        </p:txBody>
      </p:sp>
      <p:sp>
        <p:nvSpPr>
          <p:cNvPr id="164" name="Google Shape;164;p15"/>
          <p:cNvSpPr/>
          <p:nvPr/>
        </p:nvSpPr>
        <p:spPr>
          <a:xfrm>
            <a:off x="1325880" y="5257800"/>
            <a:ext cx="36576" cy="27432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1097280" y="5532120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 txBox="1"/>
          <p:nvPr/>
        </p:nvSpPr>
        <p:spPr>
          <a:xfrm>
            <a:off x="1097280" y="5532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1828800" y="551383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Add Discriminator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1828800" y="58247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Adversarial training with hybrid reward signal</a:t>
            </a:r>
            <a:endParaRPr/>
          </a:p>
        </p:txBody>
      </p:sp>
      <p:sp>
        <p:nvSpPr>
          <p:cNvPr id="169" name="Google Shape;169;p15"/>
          <p:cNvSpPr/>
          <p:nvPr/>
        </p:nvSpPr>
        <p:spPr>
          <a:xfrm>
            <a:off x="6400800" y="2331720"/>
            <a:ext cx="4114800" cy="548640"/>
          </a:xfrm>
          <a:prstGeom prst="roundRect">
            <a:avLst>
              <a:gd fmla="val 16667" name="adj"/>
            </a:avLst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6400800" y="233172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 ARE HERE — Step 1 Complete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1295C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 1: Freesound Samples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agent's sound library — actual WAV files placed on the beat grid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731520" y="16459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How we sourced and processed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731520" y="21945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  Connected to Freesound API via OAuth2 authentication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731520" y="257860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  Searched by instrument tags (kick, snare, bass, etc.)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731520" y="2962656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3.  Downloaded top-rated candidates per category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731520" y="3346704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4.  Preprocessed: resample to 44100Hz, mono, normalize to -6dB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731520" y="3730752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5.  Trimmed/padded to fixed duration per category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6400800" y="16459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Current inventory</a:t>
            </a:r>
            <a:endParaRPr/>
          </a:p>
        </p:txBody>
      </p:sp>
      <p:sp>
        <p:nvSpPr>
          <p:cNvPr id="185" name="Google Shape;185;p16"/>
          <p:cNvSpPr/>
          <p:nvPr/>
        </p:nvSpPr>
        <p:spPr>
          <a:xfrm>
            <a:off x="6400800" y="2194560"/>
            <a:ext cx="5029200" cy="347472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 txBox="1"/>
          <p:nvPr/>
        </p:nvSpPr>
        <p:spPr>
          <a:xfrm>
            <a:off x="6400800" y="219456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7406640" y="219456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8412480" y="219456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Count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9418320" y="219456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Duration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10424160" y="219456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/>
          </a:p>
        </p:txBody>
      </p:sp>
      <p:sp>
        <p:nvSpPr>
          <p:cNvPr id="191" name="Google Shape;191;p16"/>
          <p:cNvSpPr/>
          <p:nvPr/>
        </p:nvSpPr>
        <p:spPr>
          <a:xfrm>
            <a:off x="6400800" y="2560320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 txBox="1"/>
          <p:nvPr/>
        </p:nvSpPr>
        <p:spPr>
          <a:xfrm>
            <a:off x="6400800" y="256032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Layer 0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7406640" y="256032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Kick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8412480" y="256032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9418320" y="256032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0.50s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10424160" y="256032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/>
          </a:p>
        </p:txBody>
      </p:sp>
      <p:sp>
        <p:nvSpPr>
          <p:cNvPr id="197" name="Google Shape;197;p16"/>
          <p:cNvSpPr/>
          <p:nvPr/>
        </p:nvSpPr>
        <p:spPr>
          <a:xfrm>
            <a:off x="6400800" y="2907791"/>
            <a:ext cx="5029200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 txBox="1"/>
          <p:nvPr/>
        </p:nvSpPr>
        <p:spPr>
          <a:xfrm>
            <a:off x="6400800" y="2907791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Layer 1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7406640" y="2907791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Snare</a:t>
            </a:r>
            <a:endParaRPr/>
          </a:p>
        </p:txBody>
      </p:sp>
      <p:sp>
        <p:nvSpPr>
          <p:cNvPr id="200" name="Google Shape;200;p16"/>
          <p:cNvSpPr txBox="1"/>
          <p:nvPr/>
        </p:nvSpPr>
        <p:spPr>
          <a:xfrm>
            <a:off x="8412480" y="2907791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9418320" y="2907791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0.50s</a:t>
            </a:r>
            <a:endParaRPr/>
          </a:p>
        </p:txBody>
      </p:sp>
      <p:sp>
        <p:nvSpPr>
          <p:cNvPr id="202" name="Google Shape;202;p16"/>
          <p:cNvSpPr txBox="1"/>
          <p:nvPr/>
        </p:nvSpPr>
        <p:spPr>
          <a:xfrm>
            <a:off x="10424160" y="2907791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/>
          </a:p>
        </p:txBody>
      </p:sp>
      <p:sp>
        <p:nvSpPr>
          <p:cNvPr id="203" name="Google Shape;203;p16"/>
          <p:cNvSpPr/>
          <p:nvPr/>
        </p:nvSpPr>
        <p:spPr>
          <a:xfrm>
            <a:off x="6400800" y="3255263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 txBox="1"/>
          <p:nvPr/>
        </p:nvSpPr>
        <p:spPr>
          <a:xfrm>
            <a:off x="6400800" y="3255263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Layer 2</a:t>
            </a:r>
            <a:endParaRPr/>
          </a:p>
        </p:txBody>
      </p:sp>
      <p:sp>
        <p:nvSpPr>
          <p:cNvPr id="205" name="Google Shape;205;p16"/>
          <p:cNvSpPr txBox="1"/>
          <p:nvPr/>
        </p:nvSpPr>
        <p:spPr>
          <a:xfrm>
            <a:off x="7406640" y="3255263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Hi-hat</a:t>
            </a:r>
            <a:endParaRPr/>
          </a:p>
        </p:txBody>
      </p:sp>
      <p:sp>
        <p:nvSpPr>
          <p:cNvPr id="206" name="Google Shape;206;p16"/>
          <p:cNvSpPr txBox="1"/>
          <p:nvPr/>
        </p:nvSpPr>
        <p:spPr>
          <a:xfrm>
            <a:off x="8412480" y="3255263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9418320" y="3255263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0.50s</a:t>
            </a:r>
            <a:endParaRPr/>
          </a:p>
        </p:txBody>
      </p:sp>
      <p:sp>
        <p:nvSpPr>
          <p:cNvPr id="208" name="Google Shape;208;p16"/>
          <p:cNvSpPr txBox="1"/>
          <p:nvPr/>
        </p:nvSpPr>
        <p:spPr>
          <a:xfrm>
            <a:off x="10424160" y="3255263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/>
          </a:p>
        </p:txBody>
      </p:sp>
      <p:sp>
        <p:nvSpPr>
          <p:cNvPr id="209" name="Google Shape;209;p16"/>
          <p:cNvSpPr/>
          <p:nvPr/>
        </p:nvSpPr>
        <p:spPr>
          <a:xfrm>
            <a:off x="6400800" y="3602736"/>
            <a:ext cx="5029200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 txBox="1"/>
          <p:nvPr/>
        </p:nvSpPr>
        <p:spPr>
          <a:xfrm>
            <a:off x="6400800" y="3602736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Layer 3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7406640" y="3602736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Clap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>
          <a:xfrm>
            <a:off x="8412480" y="3602736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9418320" y="3602736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0.50s</a:t>
            </a:r>
            <a:endParaRPr/>
          </a:p>
        </p:txBody>
      </p:sp>
      <p:sp>
        <p:nvSpPr>
          <p:cNvPr id="214" name="Google Shape;214;p16"/>
          <p:cNvSpPr txBox="1"/>
          <p:nvPr/>
        </p:nvSpPr>
        <p:spPr>
          <a:xfrm>
            <a:off x="10424160" y="3602736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/>
          </a:p>
        </p:txBody>
      </p:sp>
      <p:sp>
        <p:nvSpPr>
          <p:cNvPr id="215" name="Google Shape;215;p16"/>
          <p:cNvSpPr/>
          <p:nvPr/>
        </p:nvSpPr>
        <p:spPr>
          <a:xfrm>
            <a:off x="6400800" y="3950208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6"/>
          <p:cNvSpPr txBox="1"/>
          <p:nvPr/>
        </p:nvSpPr>
        <p:spPr>
          <a:xfrm>
            <a:off x="6400800" y="395020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Layer 4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7406640" y="395020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Bass</a:t>
            </a:r>
            <a:endParaRPr/>
          </a:p>
        </p:txBody>
      </p:sp>
      <p:sp>
        <p:nvSpPr>
          <p:cNvPr id="218" name="Google Shape;218;p16"/>
          <p:cNvSpPr txBox="1"/>
          <p:nvPr/>
        </p:nvSpPr>
        <p:spPr>
          <a:xfrm>
            <a:off x="8412480" y="395020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219" name="Google Shape;219;p16"/>
          <p:cNvSpPr txBox="1"/>
          <p:nvPr/>
        </p:nvSpPr>
        <p:spPr>
          <a:xfrm>
            <a:off x="9418320" y="395020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1.00s</a:t>
            </a:r>
            <a:endParaRPr/>
          </a:p>
        </p:txBody>
      </p:sp>
      <p:sp>
        <p:nvSpPr>
          <p:cNvPr id="220" name="Google Shape;220;p16"/>
          <p:cNvSpPr txBox="1"/>
          <p:nvPr/>
        </p:nvSpPr>
        <p:spPr>
          <a:xfrm>
            <a:off x="10424160" y="395020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/>
          </a:p>
        </p:txBody>
      </p:sp>
      <p:sp>
        <p:nvSpPr>
          <p:cNvPr id="221" name="Google Shape;221;p16"/>
          <p:cNvSpPr/>
          <p:nvPr/>
        </p:nvSpPr>
        <p:spPr>
          <a:xfrm>
            <a:off x="6400800" y="4297679"/>
            <a:ext cx="5029200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6400800" y="4297679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Layer 5</a:t>
            </a:r>
            <a:endParaRPr/>
          </a:p>
        </p:txBody>
      </p:sp>
      <p:sp>
        <p:nvSpPr>
          <p:cNvPr id="223" name="Google Shape;223;p16"/>
          <p:cNvSpPr txBox="1"/>
          <p:nvPr/>
        </p:nvSpPr>
        <p:spPr>
          <a:xfrm>
            <a:off x="7406640" y="4297679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Melody</a:t>
            </a:r>
            <a:endParaRPr/>
          </a:p>
        </p:txBody>
      </p:sp>
      <p:sp>
        <p:nvSpPr>
          <p:cNvPr id="224" name="Google Shape;224;p16"/>
          <p:cNvSpPr txBox="1"/>
          <p:nvPr/>
        </p:nvSpPr>
        <p:spPr>
          <a:xfrm>
            <a:off x="8412480" y="4297679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25" name="Google Shape;225;p16"/>
          <p:cNvSpPr txBox="1"/>
          <p:nvPr/>
        </p:nvSpPr>
        <p:spPr>
          <a:xfrm>
            <a:off x="9418320" y="4297679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1.00s</a:t>
            </a:r>
            <a:endParaRPr/>
          </a:p>
        </p:txBody>
      </p:sp>
      <p:sp>
        <p:nvSpPr>
          <p:cNvPr id="226" name="Google Shape;226;p16"/>
          <p:cNvSpPr txBox="1"/>
          <p:nvPr/>
        </p:nvSpPr>
        <p:spPr>
          <a:xfrm>
            <a:off x="10424160" y="4297679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/>
          </a:p>
        </p:txBody>
      </p:sp>
      <p:sp>
        <p:nvSpPr>
          <p:cNvPr id="227" name="Google Shape;227;p16"/>
          <p:cNvSpPr/>
          <p:nvPr/>
        </p:nvSpPr>
        <p:spPr>
          <a:xfrm>
            <a:off x="6400800" y="4645152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6400800" y="4645152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Layer 6</a:t>
            </a:r>
            <a:endParaRPr/>
          </a:p>
        </p:txBody>
      </p:sp>
      <p:sp>
        <p:nvSpPr>
          <p:cNvPr id="229" name="Google Shape;229;p16"/>
          <p:cNvSpPr txBox="1"/>
          <p:nvPr/>
        </p:nvSpPr>
        <p:spPr>
          <a:xfrm>
            <a:off x="7406640" y="4645152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Pad</a:t>
            </a:r>
            <a:endParaRPr/>
          </a:p>
        </p:txBody>
      </p:sp>
      <p:sp>
        <p:nvSpPr>
          <p:cNvPr id="230" name="Google Shape;230;p16"/>
          <p:cNvSpPr txBox="1"/>
          <p:nvPr/>
        </p:nvSpPr>
        <p:spPr>
          <a:xfrm>
            <a:off x="8412480" y="4645152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1" name="Google Shape;231;p16"/>
          <p:cNvSpPr txBox="1"/>
          <p:nvPr/>
        </p:nvSpPr>
        <p:spPr>
          <a:xfrm>
            <a:off x="9418320" y="4645152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2.00s</a:t>
            </a:r>
            <a:endParaRPr/>
          </a:p>
        </p:txBody>
      </p:sp>
      <p:sp>
        <p:nvSpPr>
          <p:cNvPr id="232" name="Google Shape;232;p16"/>
          <p:cNvSpPr txBox="1"/>
          <p:nvPr/>
        </p:nvSpPr>
        <p:spPr>
          <a:xfrm>
            <a:off x="10424160" y="4645152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/>
          </a:p>
        </p:txBody>
      </p:sp>
      <p:sp>
        <p:nvSpPr>
          <p:cNvPr id="233" name="Google Shape;233;p16"/>
          <p:cNvSpPr/>
          <p:nvPr/>
        </p:nvSpPr>
        <p:spPr>
          <a:xfrm>
            <a:off x="6400800" y="4992624"/>
            <a:ext cx="5029200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6"/>
          <p:cNvSpPr txBox="1"/>
          <p:nvPr/>
        </p:nvSpPr>
        <p:spPr>
          <a:xfrm>
            <a:off x="6400800" y="4992624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Layer 7</a:t>
            </a:r>
            <a:endParaRPr/>
          </a:p>
        </p:txBody>
      </p:sp>
      <p:sp>
        <p:nvSpPr>
          <p:cNvPr id="235" name="Google Shape;235;p16"/>
          <p:cNvSpPr txBox="1"/>
          <p:nvPr/>
        </p:nvSpPr>
        <p:spPr>
          <a:xfrm>
            <a:off x="7406640" y="4992624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FX</a:t>
            </a:r>
            <a:endParaRPr/>
          </a:p>
        </p:txBody>
      </p:sp>
      <p:sp>
        <p:nvSpPr>
          <p:cNvPr id="236" name="Google Shape;236;p16"/>
          <p:cNvSpPr txBox="1"/>
          <p:nvPr/>
        </p:nvSpPr>
        <p:spPr>
          <a:xfrm>
            <a:off x="8412480" y="4992624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7" name="Google Shape;237;p16"/>
          <p:cNvSpPr txBox="1"/>
          <p:nvPr/>
        </p:nvSpPr>
        <p:spPr>
          <a:xfrm>
            <a:off x="9418320" y="4992624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1.00s</a:t>
            </a:r>
            <a:endParaRPr/>
          </a:p>
        </p:txBody>
      </p:sp>
      <p:sp>
        <p:nvSpPr>
          <p:cNvPr id="238" name="Google Shape;238;p16"/>
          <p:cNvSpPr txBox="1"/>
          <p:nvPr/>
        </p:nvSpPr>
        <p:spPr>
          <a:xfrm>
            <a:off x="10424160" y="4992624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/>
          </a:p>
        </p:txBody>
      </p:sp>
      <p:sp>
        <p:nvSpPr>
          <p:cNvPr id="239" name="Google Shape;239;p16"/>
          <p:cNvSpPr/>
          <p:nvPr/>
        </p:nvSpPr>
        <p:spPr>
          <a:xfrm>
            <a:off x="6400800" y="5394960"/>
            <a:ext cx="5029200" cy="548640"/>
          </a:xfrm>
          <a:prstGeom prst="roundRect">
            <a:avLst>
              <a:gd fmla="val 16667" name="adj"/>
            </a:avLst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6"/>
          <p:cNvSpPr txBox="1"/>
          <p:nvPr/>
        </p:nvSpPr>
        <p:spPr>
          <a:xfrm>
            <a:off x="6537960" y="539496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Melody, Pad, FX need more samples — will fix before Phase 2. Not blocking Phase 1.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7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1295C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 2: Groove MIDI</a:t>
            </a:r>
            <a:endParaRPr/>
          </a:p>
        </p:txBody>
      </p:sp>
      <p:sp>
        <p:nvSpPr>
          <p:cNvPr id="247" name="Google Shape;247;p17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1,150 professional drum performances → 42,133 quantized beat grids</a:t>
            </a:r>
            <a:endParaRPr/>
          </a:p>
        </p:txBody>
      </p:sp>
      <p:sp>
        <p:nvSpPr>
          <p:cNvPr id="248" name="Google Shape;248;p17"/>
          <p:cNvSpPr/>
          <p:nvPr/>
        </p:nvSpPr>
        <p:spPr>
          <a:xfrm>
            <a:off x="731520" y="173736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7"/>
          <p:cNvSpPr/>
          <p:nvPr/>
        </p:nvSpPr>
        <p:spPr>
          <a:xfrm>
            <a:off x="731520" y="1737360"/>
            <a:ext cx="2560320" cy="54864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7"/>
          <p:cNvSpPr txBox="1"/>
          <p:nvPr/>
        </p:nvSpPr>
        <p:spPr>
          <a:xfrm>
            <a:off x="731520" y="1965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42,133</a:t>
            </a:r>
            <a:endParaRPr/>
          </a:p>
        </p:txBody>
      </p:sp>
      <p:sp>
        <p:nvSpPr>
          <p:cNvPr id="251" name="Google Shape;251;p17"/>
          <p:cNvSpPr txBox="1"/>
          <p:nvPr/>
        </p:nvSpPr>
        <p:spPr>
          <a:xfrm>
            <a:off x="731520" y="2560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Beat grids</a:t>
            </a:r>
            <a:endParaRPr/>
          </a:p>
        </p:txBody>
      </p:sp>
      <p:sp>
        <p:nvSpPr>
          <p:cNvPr id="252" name="Google Shape;252;p17"/>
          <p:cNvSpPr/>
          <p:nvPr/>
        </p:nvSpPr>
        <p:spPr>
          <a:xfrm>
            <a:off x="3566160" y="173736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3566160" y="1737360"/>
            <a:ext cx="2560320" cy="54864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7"/>
          <p:cNvSpPr txBox="1"/>
          <p:nvPr/>
        </p:nvSpPr>
        <p:spPr>
          <a:xfrm>
            <a:off x="3566160" y="1965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C7293"/>
                </a:solidFill>
                <a:latin typeface="Trebuchet MS"/>
                <a:ea typeface="Trebuchet MS"/>
                <a:cs typeface="Trebuchet MS"/>
                <a:sym typeface="Trebuchet MS"/>
              </a:rPr>
              <a:t>8 × 16</a:t>
            </a:r>
            <a:endParaRPr/>
          </a:p>
        </p:txBody>
      </p:sp>
      <p:sp>
        <p:nvSpPr>
          <p:cNvPr id="255" name="Google Shape;255;p17"/>
          <p:cNvSpPr txBox="1"/>
          <p:nvPr/>
        </p:nvSpPr>
        <p:spPr>
          <a:xfrm>
            <a:off x="3566160" y="2560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Grid shape</a:t>
            </a:r>
            <a:endParaRPr/>
          </a:p>
        </p:txBody>
      </p:sp>
      <p:sp>
        <p:nvSpPr>
          <p:cNvPr id="256" name="Google Shape;256;p17"/>
          <p:cNvSpPr/>
          <p:nvPr/>
        </p:nvSpPr>
        <p:spPr>
          <a:xfrm>
            <a:off x="6400800" y="173736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6400800" y="1737360"/>
            <a:ext cx="2560320" cy="5486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7"/>
          <p:cNvSpPr txBox="1"/>
          <p:nvPr/>
        </p:nvSpPr>
        <p:spPr>
          <a:xfrm>
            <a:off x="6400800" y="1965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rPr>
              <a:t>12.7%</a:t>
            </a:r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6400800" y="2560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Avg density</a:t>
            </a:r>
            <a:endParaRPr/>
          </a:p>
        </p:txBody>
      </p:sp>
      <p:sp>
        <p:nvSpPr>
          <p:cNvPr id="260" name="Google Shape;260;p17"/>
          <p:cNvSpPr/>
          <p:nvPr/>
        </p:nvSpPr>
        <p:spPr>
          <a:xfrm>
            <a:off x="9235440" y="173736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7"/>
          <p:cNvSpPr/>
          <p:nvPr/>
        </p:nvSpPr>
        <p:spPr>
          <a:xfrm>
            <a:off x="9235440" y="1737360"/>
            <a:ext cx="256032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7"/>
          <p:cNvSpPr txBox="1"/>
          <p:nvPr/>
        </p:nvSpPr>
        <p:spPr>
          <a:xfrm>
            <a:off x="9235440" y="1965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18</a:t>
            </a:r>
            <a:endParaRPr/>
          </a:p>
        </p:txBody>
      </p:sp>
      <p:sp>
        <p:nvSpPr>
          <p:cNvPr id="263" name="Google Shape;263;p17"/>
          <p:cNvSpPr txBox="1"/>
          <p:nvPr/>
        </p:nvSpPr>
        <p:spPr>
          <a:xfrm>
            <a:off x="9235440" y="2560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Music genres</a:t>
            </a:r>
            <a:endParaRPr/>
          </a:p>
        </p:txBody>
      </p:sp>
      <p:sp>
        <p:nvSpPr>
          <p:cNvPr id="264" name="Google Shape;264;p17"/>
          <p:cNvSpPr txBox="1"/>
          <p:nvPr/>
        </p:nvSpPr>
        <p:spPr>
          <a:xfrm>
            <a:off x="731520" y="33832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Pipeline: Download → Parse MIDI → Map drums to 4 layers → Quantize to 16th notes → Slice into bars → Save as numpy</a:t>
            </a:r>
            <a:endParaRPr/>
          </a:p>
        </p:txBody>
      </p:sp>
      <p:pic>
        <p:nvPicPr>
          <p:cNvPr descr="groove_viz.png" id="265" name="Google Shape;26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931920"/>
            <a:ext cx="11247120" cy="169164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7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Validation: Layers 4-7 all zeros (correct — drums only)  |  Kicks on strong beats confirmed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1295C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 3: BabySlakh</a:t>
            </a:r>
            <a:endParaRPr/>
          </a:p>
        </p:txBody>
      </p:sp>
      <p:sp>
        <p:nvSpPr>
          <p:cNvPr id="273" name="Google Shape;273;p18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20-track subset of Slakh2100 — multi-instrument MIDI → 2,450 full 8-layer grids</a:t>
            </a:r>
            <a:endParaRPr/>
          </a:p>
        </p:txBody>
      </p:sp>
      <p:sp>
        <p:nvSpPr>
          <p:cNvPr id="274" name="Google Shape;274;p18"/>
          <p:cNvSpPr/>
          <p:nvPr/>
        </p:nvSpPr>
        <p:spPr>
          <a:xfrm>
            <a:off x="731520" y="173736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/>
          <p:nvPr/>
        </p:nvSpPr>
        <p:spPr>
          <a:xfrm>
            <a:off x="731520" y="1737360"/>
            <a:ext cx="256032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8"/>
          <p:cNvSpPr txBox="1"/>
          <p:nvPr/>
        </p:nvSpPr>
        <p:spPr>
          <a:xfrm>
            <a:off x="731520" y="1965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B5CF6"/>
                </a:solidFill>
                <a:latin typeface="Trebuchet MS"/>
                <a:ea typeface="Trebuchet MS"/>
                <a:cs typeface="Trebuchet MS"/>
                <a:sym typeface="Trebuchet MS"/>
              </a:rPr>
              <a:t>2,450</a:t>
            </a:r>
            <a:endParaRPr/>
          </a:p>
        </p:txBody>
      </p:sp>
      <p:sp>
        <p:nvSpPr>
          <p:cNvPr id="277" name="Google Shape;277;p18"/>
          <p:cNvSpPr txBox="1"/>
          <p:nvPr/>
        </p:nvSpPr>
        <p:spPr>
          <a:xfrm>
            <a:off x="731520" y="2560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Beat grids</a:t>
            </a:r>
            <a:endParaRPr/>
          </a:p>
        </p:txBody>
      </p:sp>
      <p:sp>
        <p:nvSpPr>
          <p:cNvPr id="278" name="Google Shape;278;p18"/>
          <p:cNvSpPr/>
          <p:nvPr/>
        </p:nvSpPr>
        <p:spPr>
          <a:xfrm>
            <a:off x="3566160" y="173736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3566160" y="1737360"/>
            <a:ext cx="256032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8"/>
          <p:cNvSpPr txBox="1"/>
          <p:nvPr/>
        </p:nvSpPr>
        <p:spPr>
          <a:xfrm>
            <a:off x="3566160" y="1965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99.6%</a:t>
            </a:r>
            <a:endParaRPr/>
          </a:p>
        </p:txBody>
      </p:sp>
      <p:sp>
        <p:nvSpPr>
          <p:cNvPr id="281" name="Google Shape;281;p18"/>
          <p:cNvSpPr txBox="1"/>
          <p:nvPr/>
        </p:nvSpPr>
        <p:spPr>
          <a:xfrm>
            <a:off x="3566160" y="2560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Have tonal content</a:t>
            </a:r>
            <a:endParaRPr/>
          </a:p>
        </p:txBody>
      </p:sp>
      <p:sp>
        <p:nvSpPr>
          <p:cNvPr id="282" name="Google Shape;282;p18"/>
          <p:cNvSpPr/>
          <p:nvPr/>
        </p:nvSpPr>
        <p:spPr>
          <a:xfrm>
            <a:off x="6400800" y="173736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8"/>
          <p:cNvSpPr/>
          <p:nvPr/>
        </p:nvSpPr>
        <p:spPr>
          <a:xfrm>
            <a:off x="6400800" y="1737360"/>
            <a:ext cx="2560320" cy="54864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8"/>
          <p:cNvSpPr txBox="1"/>
          <p:nvPr/>
        </p:nvSpPr>
        <p:spPr>
          <a:xfrm>
            <a:off x="6400800" y="1965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C7293"/>
                </a:solidFill>
                <a:latin typeface="Trebuchet MS"/>
                <a:ea typeface="Trebuchet MS"/>
                <a:cs typeface="Trebuchet MS"/>
                <a:sym typeface="Trebuchet MS"/>
              </a:rPr>
              <a:t>20.2%</a:t>
            </a:r>
            <a:endParaRPr/>
          </a:p>
        </p:txBody>
      </p:sp>
      <p:sp>
        <p:nvSpPr>
          <p:cNvPr id="285" name="Google Shape;285;p18"/>
          <p:cNvSpPr txBox="1"/>
          <p:nvPr/>
        </p:nvSpPr>
        <p:spPr>
          <a:xfrm>
            <a:off x="6400800" y="2560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Tonal density</a:t>
            </a:r>
            <a:endParaRPr/>
          </a:p>
        </p:txBody>
      </p:sp>
      <p:sp>
        <p:nvSpPr>
          <p:cNvPr id="286" name="Google Shape;286;p18"/>
          <p:cNvSpPr/>
          <p:nvPr/>
        </p:nvSpPr>
        <p:spPr>
          <a:xfrm>
            <a:off x="9235440" y="173736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8"/>
          <p:cNvSpPr/>
          <p:nvPr/>
        </p:nvSpPr>
        <p:spPr>
          <a:xfrm>
            <a:off x="9235440" y="1737360"/>
            <a:ext cx="2560320" cy="54864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8"/>
          <p:cNvSpPr txBox="1"/>
          <p:nvPr/>
        </p:nvSpPr>
        <p:spPr>
          <a:xfrm>
            <a:off x="9235440" y="1965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20</a:t>
            </a:r>
            <a:endParaRPr/>
          </a:p>
        </p:txBody>
      </p:sp>
      <p:sp>
        <p:nvSpPr>
          <p:cNvPr id="289" name="Google Shape;289;p18"/>
          <p:cNvSpPr txBox="1"/>
          <p:nvPr/>
        </p:nvSpPr>
        <p:spPr>
          <a:xfrm>
            <a:off x="9235440" y="2560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Tracks (upgradeable)</a:t>
            </a:r>
            <a:endParaRPr/>
          </a:p>
        </p:txBody>
      </p:sp>
      <p:pic>
        <p:nvPicPr>
          <p:cNvPr descr="slakh_viz.png" id="290" name="Google Shape;2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474720"/>
            <a:ext cx="11247120" cy="224028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8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Unlike Groove MIDI (drums only), BabySlakh has all 8 layers populated. Upgradeable to full Slakh2100 (~200K+ grids).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9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1295C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 4: MUSDB18</a:t>
            </a:r>
            <a:endParaRPr/>
          </a:p>
        </p:txBody>
      </p:sp>
      <p:sp>
        <p:nvSpPr>
          <p:cNvPr id="298" name="Google Shape;298;p19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150 full-length professional songs → 31,323 mel-spectrogram patches for AST fine-tuning</a:t>
            </a:r>
            <a:endParaRPr/>
          </a:p>
        </p:txBody>
      </p:sp>
      <p:sp>
        <p:nvSpPr>
          <p:cNvPr id="299" name="Google Shape;299;p19"/>
          <p:cNvSpPr/>
          <p:nvPr/>
        </p:nvSpPr>
        <p:spPr>
          <a:xfrm>
            <a:off x="731520" y="173736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731520" y="1737360"/>
            <a:ext cx="256032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9"/>
          <p:cNvSpPr txBox="1"/>
          <p:nvPr/>
        </p:nvSpPr>
        <p:spPr>
          <a:xfrm>
            <a:off x="731520" y="1965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31,323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731520" y="2560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Spectrogram patches</a:t>
            </a:r>
            <a:endParaRPr/>
          </a:p>
        </p:txBody>
      </p:sp>
      <p:sp>
        <p:nvSpPr>
          <p:cNvPr id="303" name="Google Shape;303;p19"/>
          <p:cNvSpPr/>
          <p:nvPr/>
        </p:nvSpPr>
        <p:spPr>
          <a:xfrm>
            <a:off x="3566160" y="173736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9"/>
          <p:cNvSpPr/>
          <p:nvPr/>
        </p:nvSpPr>
        <p:spPr>
          <a:xfrm>
            <a:off x="3566160" y="1737360"/>
            <a:ext cx="2560320" cy="54864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9"/>
          <p:cNvSpPr txBox="1"/>
          <p:nvPr/>
        </p:nvSpPr>
        <p:spPr>
          <a:xfrm>
            <a:off x="3566160" y="1965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C7293"/>
                </a:solidFill>
                <a:latin typeface="Trebuchet MS"/>
                <a:ea typeface="Trebuchet MS"/>
                <a:cs typeface="Trebuchet MS"/>
                <a:sym typeface="Trebuchet MS"/>
              </a:rPr>
              <a:t>128×130</a:t>
            </a:r>
            <a:endParaRPr/>
          </a:p>
        </p:txBody>
      </p:sp>
      <p:sp>
        <p:nvSpPr>
          <p:cNvPr id="306" name="Google Shape;306;p19"/>
          <p:cNvSpPr txBox="1"/>
          <p:nvPr/>
        </p:nvSpPr>
        <p:spPr>
          <a:xfrm>
            <a:off x="3566160" y="2560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Patch dimensions</a:t>
            </a:r>
            <a:endParaRPr/>
          </a:p>
        </p:txBody>
      </p:sp>
      <p:sp>
        <p:nvSpPr>
          <p:cNvPr id="307" name="Google Shape;307;p19"/>
          <p:cNvSpPr/>
          <p:nvPr/>
        </p:nvSpPr>
        <p:spPr>
          <a:xfrm>
            <a:off x="6400800" y="173736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9"/>
          <p:cNvSpPr/>
          <p:nvPr/>
        </p:nvSpPr>
        <p:spPr>
          <a:xfrm>
            <a:off x="6400800" y="1737360"/>
            <a:ext cx="2560320" cy="54864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9"/>
          <p:cNvSpPr txBox="1"/>
          <p:nvPr/>
        </p:nvSpPr>
        <p:spPr>
          <a:xfrm>
            <a:off x="6400800" y="1965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4.2 GB</a:t>
            </a:r>
            <a:endParaRPr/>
          </a:p>
        </p:txBody>
      </p:sp>
      <p:sp>
        <p:nvSpPr>
          <p:cNvPr id="310" name="Google Shape;310;p19"/>
          <p:cNvSpPr txBox="1"/>
          <p:nvPr/>
        </p:nvSpPr>
        <p:spPr>
          <a:xfrm>
            <a:off x="6400800" y="2560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Processed size</a:t>
            </a:r>
            <a:endParaRPr/>
          </a:p>
        </p:txBody>
      </p:sp>
      <p:sp>
        <p:nvSpPr>
          <p:cNvPr id="311" name="Google Shape;311;p19"/>
          <p:cNvSpPr/>
          <p:nvPr/>
        </p:nvSpPr>
        <p:spPr>
          <a:xfrm>
            <a:off x="9235440" y="173736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9"/>
          <p:cNvSpPr/>
          <p:nvPr/>
        </p:nvSpPr>
        <p:spPr>
          <a:xfrm>
            <a:off x="9235440" y="1737360"/>
            <a:ext cx="256032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9"/>
          <p:cNvSpPr txBox="1"/>
          <p:nvPr/>
        </p:nvSpPr>
        <p:spPr>
          <a:xfrm>
            <a:off x="9235440" y="1965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150</a:t>
            </a:r>
            <a:endParaRPr/>
          </a:p>
        </p:txBody>
      </p:sp>
      <p:sp>
        <p:nvSpPr>
          <p:cNvPr id="314" name="Google Shape;314;p19"/>
          <p:cNvSpPr txBox="1"/>
          <p:nvPr/>
        </p:nvSpPr>
        <p:spPr>
          <a:xfrm>
            <a:off x="9235440" y="2560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Full-length songs</a:t>
            </a:r>
            <a:endParaRPr/>
          </a:p>
        </p:txBody>
      </p:sp>
      <p:sp>
        <p:nvSpPr>
          <p:cNvPr id="315" name="Google Shape;315;p19"/>
          <p:cNvSpPr txBox="1"/>
          <p:nvPr/>
        </p:nvSpPr>
        <p:spPr>
          <a:xfrm>
            <a:off x="731520" y="33832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Pipeline: Download from Zenodo → Decode stems (stempeg) → Resample to 22050Hz → Slice 3s windows → Mel-spectrogram → Save</a:t>
            </a:r>
            <a:endParaRPr/>
          </a:p>
        </p:txBody>
      </p:sp>
      <p:pic>
        <p:nvPicPr>
          <p:cNvPr descr="musdb_viz.png" id="316" name="Google Shape;31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931920"/>
            <a:ext cx="11247120" cy="224028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9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Validation: Value range [-80, 0] dB  |  No NaN values  |  No silent patches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0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1295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File Structure</a:t>
            </a:r>
            <a:endParaRPr/>
          </a:p>
        </p:txBody>
      </p:sp>
      <p:sp>
        <p:nvSpPr>
          <p:cNvPr id="324" name="Google Shape;324;p20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Everything stored on Google Drive — persistent across Colab sessions</a:t>
            </a:r>
            <a:endParaRPr/>
          </a:p>
        </p:txBody>
      </p:sp>
      <p:sp>
        <p:nvSpPr>
          <p:cNvPr id="325" name="Google Shape;325;p20"/>
          <p:cNvSpPr/>
          <p:nvPr/>
        </p:nvSpPr>
        <p:spPr>
          <a:xfrm>
            <a:off x="731520" y="1645920"/>
            <a:ext cx="6400800" cy="4754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0"/>
          <p:cNvSpPr/>
          <p:nvPr/>
        </p:nvSpPr>
        <p:spPr>
          <a:xfrm>
            <a:off x="731520" y="1645920"/>
            <a:ext cx="6400800" cy="54864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0"/>
          <p:cNvSpPr txBox="1"/>
          <p:nvPr/>
        </p:nvSpPr>
        <p:spPr>
          <a:xfrm>
            <a:off x="1005840" y="1874519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datasets/</a:t>
            </a:r>
            <a:endParaRPr/>
          </a:p>
        </p:txBody>
      </p:sp>
      <p:sp>
        <p:nvSpPr>
          <p:cNvPr id="328" name="Google Shape;328;p20"/>
          <p:cNvSpPr txBox="1"/>
          <p:nvPr/>
        </p:nvSpPr>
        <p:spPr>
          <a:xfrm>
            <a:off x="1005840" y="2130552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  ├── samples/</a:t>
            </a:r>
            <a:endParaRPr/>
          </a:p>
        </p:txBody>
      </p:sp>
      <p:sp>
        <p:nvSpPr>
          <p:cNvPr id="329" name="Google Shape;329;p20"/>
          <p:cNvSpPr txBox="1"/>
          <p:nvPr/>
        </p:nvSpPr>
        <p:spPr>
          <a:xfrm>
            <a:off x="1005840" y="2386584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     kick/ (30)  snare/ (30)  hihat/ (25)  clap/ (20)</a:t>
            </a:r>
            <a:endParaRPr/>
          </a:p>
        </p:txBody>
      </p:sp>
      <p:sp>
        <p:nvSpPr>
          <p:cNvPr id="330" name="Google Shape;330;p20"/>
          <p:cNvSpPr txBox="1"/>
          <p:nvPr/>
        </p:nvSpPr>
        <p:spPr>
          <a:xfrm>
            <a:off x="1005840" y="2642615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     bass/ (30)  melody/ (2)  pad/ (1)  fx/ (1)</a:t>
            </a:r>
            <a:endParaRPr/>
          </a:p>
        </p:txBody>
      </p:sp>
      <p:sp>
        <p:nvSpPr>
          <p:cNvPr id="331" name="Google Shape;331;p20"/>
          <p:cNvSpPr txBox="1"/>
          <p:nvPr/>
        </p:nvSpPr>
        <p:spPr>
          <a:xfrm>
            <a:off x="1005840" y="289864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  ├── samples_processed/</a:t>
            </a:r>
            <a:endParaRPr/>
          </a:p>
        </p:txBody>
      </p:sp>
      <p:sp>
        <p:nvSpPr>
          <p:cNvPr id="332" name="Google Shape;332;p20"/>
          <p:cNvSpPr txBox="1"/>
          <p:nvPr/>
        </p:nvSpPr>
        <p:spPr>
          <a:xfrm>
            <a:off x="1005840" y="3154680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     Same 8 folders — standardized WAV files</a:t>
            </a:r>
            <a:endParaRPr/>
          </a:p>
        </p:txBody>
      </p:sp>
      <p:sp>
        <p:nvSpPr>
          <p:cNvPr id="333" name="Google Shape;333;p20"/>
          <p:cNvSpPr txBox="1"/>
          <p:nvPr/>
        </p:nvSpPr>
        <p:spPr>
          <a:xfrm>
            <a:off x="1005840" y="3410712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  ├── groove_midi/</a:t>
            </a:r>
            <a:endParaRPr/>
          </a:p>
        </p:txBody>
      </p:sp>
      <p:sp>
        <p:nvSpPr>
          <p:cNvPr id="334" name="Google Shape;334;p20"/>
          <p:cNvSpPr txBox="1"/>
          <p:nvPr/>
        </p:nvSpPr>
        <p:spPr>
          <a:xfrm>
            <a:off x="1005840" y="3666744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     Raw MIDI files from Google Magenta</a:t>
            </a:r>
            <a:endParaRPr/>
          </a:p>
        </p:txBody>
      </p:sp>
      <p:sp>
        <p:nvSpPr>
          <p:cNvPr id="335" name="Google Shape;335;p20"/>
          <p:cNvSpPr txBox="1"/>
          <p:nvPr/>
        </p:nvSpPr>
        <p:spPr>
          <a:xfrm>
            <a:off x="1005840" y="3922776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  ├── groove_grids.npy</a:t>
            </a:r>
            <a:endParaRPr/>
          </a:p>
        </p:txBody>
      </p:sp>
      <p:sp>
        <p:nvSpPr>
          <p:cNvPr id="336" name="Google Shape;336;p20"/>
          <p:cNvSpPr txBox="1"/>
          <p:nvPr/>
        </p:nvSpPr>
        <p:spPr>
          <a:xfrm>
            <a:off x="1005840" y="417880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     42,133 drum grids — shape (42133, 8, 16)</a:t>
            </a:r>
            <a:endParaRPr/>
          </a:p>
        </p:txBody>
      </p:sp>
      <p:sp>
        <p:nvSpPr>
          <p:cNvPr id="337" name="Google Shape;337;p20"/>
          <p:cNvSpPr txBox="1"/>
          <p:nvPr/>
        </p:nvSpPr>
        <p:spPr>
          <a:xfrm>
            <a:off x="1005840" y="4434840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  ├── babyslakh/</a:t>
            </a:r>
            <a:endParaRPr/>
          </a:p>
        </p:txBody>
      </p:sp>
      <p:sp>
        <p:nvSpPr>
          <p:cNvPr id="338" name="Google Shape;338;p20"/>
          <p:cNvSpPr txBox="1"/>
          <p:nvPr/>
        </p:nvSpPr>
        <p:spPr>
          <a:xfrm>
            <a:off x="1005840" y="4690872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     20 tracks with MIDI + metadata</a:t>
            </a:r>
            <a:endParaRPr/>
          </a:p>
        </p:txBody>
      </p:sp>
      <p:sp>
        <p:nvSpPr>
          <p:cNvPr id="339" name="Google Shape;339;p20"/>
          <p:cNvSpPr txBox="1"/>
          <p:nvPr/>
        </p:nvSpPr>
        <p:spPr>
          <a:xfrm>
            <a:off x="1005840" y="4946904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  ├── slakh_grids.npy</a:t>
            </a:r>
            <a:endParaRPr/>
          </a:p>
        </p:txBody>
      </p:sp>
      <p:sp>
        <p:nvSpPr>
          <p:cNvPr id="340" name="Google Shape;340;p20"/>
          <p:cNvSpPr txBox="1"/>
          <p:nvPr/>
        </p:nvSpPr>
        <p:spPr>
          <a:xfrm>
            <a:off x="1005840" y="5202936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     2,450 multi-instrument grids — shape (2450, 8, 16)</a:t>
            </a:r>
            <a:endParaRPr/>
          </a:p>
        </p:txBody>
      </p:sp>
      <p:sp>
        <p:nvSpPr>
          <p:cNvPr id="341" name="Google Shape;341;p20"/>
          <p:cNvSpPr txBox="1"/>
          <p:nvPr/>
        </p:nvSpPr>
        <p:spPr>
          <a:xfrm>
            <a:off x="1005840" y="545896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  ├── musdb18/</a:t>
            </a:r>
            <a:endParaRPr/>
          </a:p>
        </p:txBody>
      </p:sp>
      <p:sp>
        <p:nvSpPr>
          <p:cNvPr id="342" name="Google Shape;342;p20"/>
          <p:cNvSpPr txBox="1"/>
          <p:nvPr/>
        </p:nvSpPr>
        <p:spPr>
          <a:xfrm>
            <a:off x="1005840" y="5715000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     150 songs as .stem.mp4 files</a:t>
            </a:r>
            <a:endParaRPr/>
          </a:p>
        </p:txBody>
      </p:sp>
      <p:sp>
        <p:nvSpPr>
          <p:cNvPr id="343" name="Google Shape;343;p20"/>
          <p:cNvSpPr txBox="1"/>
          <p:nvPr/>
        </p:nvSpPr>
        <p:spPr>
          <a:xfrm>
            <a:off x="1005840" y="5971032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  ├── musdb_spectrograms.npy</a:t>
            </a:r>
            <a:endParaRPr/>
          </a:p>
        </p:txBody>
      </p:sp>
      <p:sp>
        <p:nvSpPr>
          <p:cNvPr id="344" name="Google Shape;344;p20"/>
          <p:cNvSpPr txBox="1"/>
          <p:nvPr/>
        </p:nvSpPr>
        <p:spPr>
          <a:xfrm>
            <a:off x="1005840" y="6227064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     31,323 patches — shape (31323, 128, 130)</a:t>
            </a:r>
            <a:endParaRPr/>
          </a:p>
        </p:txBody>
      </p:sp>
      <p:sp>
        <p:nvSpPr>
          <p:cNvPr id="345" name="Google Shape;345;p20"/>
          <p:cNvSpPr txBox="1"/>
          <p:nvPr/>
        </p:nvSpPr>
        <p:spPr>
          <a:xfrm>
            <a:off x="7772400" y="16459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Storage Summary</a:t>
            </a:r>
            <a:endParaRPr/>
          </a:p>
        </p:txBody>
      </p:sp>
      <p:sp>
        <p:nvSpPr>
          <p:cNvPr id="346" name="Google Shape;346;p20"/>
          <p:cNvSpPr txBox="1"/>
          <p:nvPr/>
        </p:nvSpPr>
        <p:spPr>
          <a:xfrm>
            <a:off x="7772400" y="21945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Freesound (raw)</a:t>
            </a:r>
            <a:endParaRPr/>
          </a:p>
        </p:txBody>
      </p:sp>
      <p:sp>
        <p:nvSpPr>
          <p:cNvPr id="347" name="Google Shape;347;p20"/>
          <p:cNvSpPr txBox="1"/>
          <p:nvPr/>
        </p:nvSpPr>
        <p:spPr>
          <a:xfrm>
            <a:off x="10058400" y="21945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~500 MB</a:t>
            </a:r>
            <a:endParaRPr/>
          </a:p>
        </p:txBody>
      </p:sp>
      <p:sp>
        <p:nvSpPr>
          <p:cNvPr id="348" name="Google Shape;348;p20"/>
          <p:cNvSpPr txBox="1"/>
          <p:nvPr/>
        </p:nvSpPr>
        <p:spPr>
          <a:xfrm>
            <a:off x="7772400" y="257860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Freesound (processed)</a:t>
            </a:r>
            <a:endParaRPr/>
          </a:p>
        </p:txBody>
      </p:sp>
      <p:sp>
        <p:nvSpPr>
          <p:cNvPr id="349" name="Google Shape;349;p20"/>
          <p:cNvSpPr txBox="1"/>
          <p:nvPr/>
        </p:nvSpPr>
        <p:spPr>
          <a:xfrm>
            <a:off x="10058400" y="257860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~200 MB</a:t>
            </a:r>
            <a:endParaRPr/>
          </a:p>
        </p:txBody>
      </p:sp>
      <p:sp>
        <p:nvSpPr>
          <p:cNvPr id="350" name="Google Shape;350;p20"/>
          <p:cNvSpPr txBox="1"/>
          <p:nvPr/>
        </p:nvSpPr>
        <p:spPr>
          <a:xfrm>
            <a:off x="7772400" y="2962656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Groove MIDI (raw)</a:t>
            </a:r>
            <a:endParaRPr/>
          </a:p>
        </p:txBody>
      </p:sp>
      <p:sp>
        <p:nvSpPr>
          <p:cNvPr id="351" name="Google Shape;351;p20"/>
          <p:cNvSpPr txBox="1"/>
          <p:nvPr/>
        </p:nvSpPr>
        <p:spPr>
          <a:xfrm>
            <a:off x="10058400" y="296265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MB</a:t>
            </a:r>
            <a:endParaRPr/>
          </a:p>
        </p:txBody>
      </p:sp>
      <p:sp>
        <p:nvSpPr>
          <p:cNvPr id="352" name="Google Shape;352;p20"/>
          <p:cNvSpPr txBox="1"/>
          <p:nvPr/>
        </p:nvSpPr>
        <p:spPr>
          <a:xfrm>
            <a:off x="7772400" y="3346704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Groove grids (.npy)</a:t>
            </a:r>
            <a:endParaRPr/>
          </a:p>
        </p:txBody>
      </p:sp>
      <p:sp>
        <p:nvSpPr>
          <p:cNvPr id="353" name="Google Shape;353;p20"/>
          <p:cNvSpPr txBox="1"/>
          <p:nvPr/>
        </p:nvSpPr>
        <p:spPr>
          <a:xfrm>
            <a:off x="10058400" y="3346704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~5 MB</a:t>
            </a:r>
            <a:endParaRPr/>
          </a:p>
        </p:txBody>
      </p:sp>
      <p:sp>
        <p:nvSpPr>
          <p:cNvPr id="354" name="Google Shape;354;p20"/>
          <p:cNvSpPr txBox="1"/>
          <p:nvPr/>
        </p:nvSpPr>
        <p:spPr>
          <a:xfrm>
            <a:off x="7772400" y="373075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BabySlakh (raw)</a:t>
            </a:r>
            <a:endParaRPr/>
          </a:p>
        </p:txBody>
      </p:sp>
      <p:sp>
        <p:nvSpPr>
          <p:cNvPr id="355" name="Google Shape;355;p20"/>
          <p:cNvSpPr txBox="1"/>
          <p:nvPr/>
        </p:nvSpPr>
        <p:spPr>
          <a:xfrm>
            <a:off x="10058400" y="373075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~1.4 GB</a:t>
            </a:r>
            <a:endParaRPr/>
          </a:p>
        </p:txBody>
      </p:sp>
      <p:sp>
        <p:nvSpPr>
          <p:cNvPr id="356" name="Google Shape;356;p20"/>
          <p:cNvSpPr txBox="1"/>
          <p:nvPr/>
        </p:nvSpPr>
        <p:spPr>
          <a:xfrm>
            <a:off x="7772400" y="41148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Slakh grids (.npy)</a:t>
            </a:r>
            <a:endParaRPr/>
          </a:p>
        </p:txBody>
      </p:sp>
      <p:sp>
        <p:nvSpPr>
          <p:cNvPr id="357" name="Google Shape;357;p20"/>
          <p:cNvSpPr txBox="1"/>
          <p:nvPr/>
        </p:nvSpPr>
        <p:spPr>
          <a:xfrm>
            <a:off x="10058400" y="411480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~0.3 MB</a:t>
            </a:r>
            <a:endParaRPr/>
          </a:p>
        </p:txBody>
      </p:sp>
      <p:sp>
        <p:nvSpPr>
          <p:cNvPr id="358" name="Google Shape;358;p20"/>
          <p:cNvSpPr txBox="1"/>
          <p:nvPr/>
        </p:nvSpPr>
        <p:spPr>
          <a:xfrm>
            <a:off x="7772400" y="449884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MUSDB18 (raw)</a:t>
            </a:r>
            <a:endParaRPr/>
          </a:p>
        </p:txBody>
      </p:sp>
      <p:sp>
        <p:nvSpPr>
          <p:cNvPr id="359" name="Google Shape;359;p20"/>
          <p:cNvSpPr txBox="1"/>
          <p:nvPr/>
        </p:nvSpPr>
        <p:spPr>
          <a:xfrm>
            <a:off x="10058400" y="449884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~4.7 GB</a:t>
            </a:r>
            <a:endParaRPr/>
          </a:p>
        </p:txBody>
      </p:sp>
      <p:sp>
        <p:nvSpPr>
          <p:cNvPr id="360" name="Google Shape;360;p20"/>
          <p:cNvSpPr txBox="1"/>
          <p:nvPr/>
        </p:nvSpPr>
        <p:spPr>
          <a:xfrm>
            <a:off x="7772400" y="4882896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MUSDB spectrograms</a:t>
            </a:r>
            <a:endParaRPr/>
          </a:p>
        </p:txBody>
      </p:sp>
      <p:sp>
        <p:nvSpPr>
          <p:cNvPr id="361" name="Google Shape;361;p20"/>
          <p:cNvSpPr txBox="1"/>
          <p:nvPr/>
        </p:nvSpPr>
        <p:spPr>
          <a:xfrm>
            <a:off x="10058400" y="488289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~4.2 GB</a:t>
            </a:r>
            <a:endParaRPr/>
          </a:p>
        </p:txBody>
      </p:sp>
      <p:sp>
        <p:nvSpPr>
          <p:cNvPr id="362" name="Google Shape;362;p20"/>
          <p:cNvSpPr/>
          <p:nvPr/>
        </p:nvSpPr>
        <p:spPr>
          <a:xfrm>
            <a:off x="7772400" y="5266944"/>
            <a:ext cx="3657600" cy="36576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7772400" y="5358383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/>
          </a:p>
        </p:txBody>
      </p:sp>
      <p:sp>
        <p:nvSpPr>
          <p:cNvPr id="364" name="Google Shape;364;p20"/>
          <p:cNvSpPr txBox="1"/>
          <p:nvPr/>
        </p:nvSpPr>
        <p:spPr>
          <a:xfrm>
            <a:off x="10058400" y="5358383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~11 GB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1295C"/>
                </a:solidFill>
                <a:latin typeface="Trebuchet MS"/>
                <a:ea typeface="Trebuchet MS"/>
                <a:cs typeface="Trebuchet MS"/>
                <a:sym typeface="Trebuchet MS"/>
              </a:rPr>
              <a:t>Phase Readiness</a:t>
            </a:r>
            <a:endParaRPr/>
          </a:p>
        </p:txBody>
      </p:sp>
      <p:sp>
        <p:nvSpPr>
          <p:cNvPr id="371" name="Google Shape;371;p21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What's ready for each training phase</a:t>
            </a:r>
            <a:endParaRPr/>
          </a:p>
        </p:txBody>
      </p:sp>
      <p:sp>
        <p:nvSpPr>
          <p:cNvPr id="372" name="Google Shape;372;p21"/>
          <p:cNvSpPr/>
          <p:nvPr/>
        </p:nvSpPr>
        <p:spPr>
          <a:xfrm>
            <a:off x="731520" y="1737360"/>
            <a:ext cx="338328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1"/>
          <p:cNvSpPr/>
          <p:nvPr/>
        </p:nvSpPr>
        <p:spPr>
          <a:xfrm>
            <a:off x="731520" y="1737360"/>
            <a:ext cx="33832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1"/>
          <p:cNvSpPr txBox="1"/>
          <p:nvPr/>
        </p:nvSpPr>
        <p:spPr>
          <a:xfrm>
            <a:off x="914400" y="196596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Phase 1: Drums Only</a:t>
            </a:r>
            <a:endParaRPr/>
          </a:p>
        </p:txBody>
      </p:sp>
      <p:sp>
        <p:nvSpPr>
          <p:cNvPr id="375" name="Google Shape;375;p21"/>
          <p:cNvSpPr/>
          <p:nvPr/>
        </p:nvSpPr>
        <p:spPr>
          <a:xfrm>
            <a:off x="914400" y="2606040"/>
            <a:ext cx="1371600" cy="320040"/>
          </a:xfrm>
          <a:prstGeom prst="roundRect">
            <a:avLst>
              <a:gd fmla="val 16667" name="adj"/>
            </a:avLst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1"/>
          <p:cNvSpPr txBox="1"/>
          <p:nvPr/>
        </p:nvSpPr>
        <p:spPr>
          <a:xfrm>
            <a:off x="914400" y="26060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READY</a:t>
            </a:r>
            <a:endParaRPr/>
          </a:p>
        </p:txBody>
      </p:sp>
      <p:sp>
        <p:nvSpPr>
          <p:cNvPr id="377" name="Google Shape;377;p21"/>
          <p:cNvSpPr txBox="1"/>
          <p:nvPr/>
        </p:nvSpPr>
        <p:spPr>
          <a:xfrm>
            <a:off x="1005840" y="310896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378" name="Google Shape;378;p21"/>
          <p:cNvSpPr txBox="1"/>
          <p:nvPr/>
        </p:nvSpPr>
        <p:spPr>
          <a:xfrm>
            <a:off x="1280160" y="310896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Drum samples (105 files)</a:t>
            </a:r>
            <a:endParaRPr/>
          </a:p>
        </p:txBody>
      </p:sp>
      <p:sp>
        <p:nvSpPr>
          <p:cNvPr id="379" name="Google Shape;379;p21"/>
          <p:cNvSpPr txBox="1"/>
          <p:nvPr/>
        </p:nvSpPr>
        <p:spPr>
          <a:xfrm>
            <a:off x="1005840" y="35204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380" name="Google Shape;380;p21"/>
          <p:cNvSpPr txBox="1"/>
          <p:nvPr/>
        </p:nvSpPr>
        <p:spPr>
          <a:xfrm>
            <a:off x="1280160" y="352044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Groove MIDI grids (42,133)</a:t>
            </a:r>
            <a:endParaRPr/>
          </a:p>
        </p:txBody>
      </p:sp>
      <p:sp>
        <p:nvSpPr>
          <p:cNvPr id="381" name="Google Shape;381;p21"/>
          <p:cNvSpPr txBox="1"/>
          <p:nvPr/>
        </p:nvSpPr>
        <p:spPr>
          <a:xfrm>
            <a:off x="1005840" y="393192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/>
          </a:p>
        </p:txBody>
      </p:sp>
      <p:sp>
        <p:nvSpPr>
          <p:cNvPr id="382" name="Google Shape;382;p21"/>
          <p:cNvSpPr txBox="1"/>
          <p:nvPr/>
        </p:nvSpPr>
        <p:spPr>
          <a:xfrm>
            <a:off x="1280160" y="393192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Environment</a:t>
            </a:r>
            <a:endParaRPr/>
          </a:p>
        </p:txBody>
      </p:sp>
      <p:sp>
        <p:nvSpPr>
          <p:cNvPr id="383" name="Google Shape;383;p21"/>
          <p:cNvSpPr txBox="1"/>
          <p:nvPr/>
        </p:nvSpPr>
        <p:spPr>
          <a:xfrm>
            <a:off x="1005840" y="434340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/>
          </a:p>
        </p:txBody>
      </p:sp>
      <p:sp>
        <p:nvSpPr>
          <p:cNvPr id="384" name="Google Shape;384;p21"/>
          <p:cNvSpPr txBox="1"/>
          <p:nvPr/>
        </p:nvSpPr>
        <p:spPr>
          <a:xfrm>
            <a:off x="1280160" y="43434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Rule-based rewards</a:t>
            </a:r>
            <a:endParaRPr/>
          </a:p>
        </p:txBody>
      </p:sp>
      <p:sp>
        <p:nvSpPr>
          <p:cNvPr id="385" name="Google Shape;385;p21"/>
          <p:cNvSpPr txBox="1"/>
          <p:nvPr/>
        </p:nvSpPr>
        <p:spPr>
          <a:xfrm>
            <a:off x="1005840" y="475488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/>
          </a:p>
        </p:txBody>
      </p:sp>
      <p:sp>
        <p:nvSpPr>
          <p:cNvPr id="386" name="Google Shape;386;p21"/>
          <p:cNvSpPr txBox="1"/>
          <p:nvPr/>
        </p:nvSpPr>
        <p:spPr>
          <a:xfrm>
            <a:off x="1280160" y="47548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PPO agent</a:t>
            </a:r>
            <a:endParaRPr/>
          </a:p>
        </p:txBody>
      </p:sp>
      <p:sp>
        <p:nvSpPr>
          <p:cNvPr id="387" name="Google Shape;387;p21"/>
          <p:cNvSpPr/>
          <p:nvPr/>
        </p:nvSpPr>
        <p:spPr>
          <a:xfrm>
            <a:off x="4480559" y="1737360"/>
            <a:ext cx="338328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1"/>
          <p:cNvSpPr/>
          <p:nvPr/>
        </p:nvSpPr>
        <p:spPr>
          <a:xfrm>
            <a:off x="4480559" y="1737360"/>
            <a:ext cx="33832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4663440" y="196596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Phase 2: Full Instruments</a:t>
            </a:r>
            <a:endParaRPr/>
          </a:p>
        </p:txBody>
      </p:sp>
      <p:sp>
        <p:nvSpPr>
          <p:cNvPr id="390" name="Google Shape;390;p21"/>
          <p:cNvSpPr/>
          <p:nvPr/>
        </p:nvSpPr>
        <p:spPr>
          <a:xfrm>
            <a:off x="4663440" y="2606040"/>
            <a:ext cx="1371600" cy="320040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1"/>
          <p:cNvSpPr txBox="1"/>
          <p:nvPr/>
        </p:nvSpPr>
        <p:spPr>
          <a:xfrm>
            <a:off x="4663440" y="26060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/>
          </a:p>
        </p:txBody>
      </p:sp>
      <p:sp>
        <p:nvSpPr>
          <p:cNvPr id="392" name="Google Shape;392;p21"/>
          <p:cNvSpPr txBox="1"/>
          <p:nvPr/>
        </p:nvSpPr>
        <p:spPr>
          <a:xfrm>
            <a:off x="4754879" y="310896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393" name="Google Shape;393;p21"/>
          <p:cNvSpPr txBox="1"/>
          <p:nvPr/>
        </p:nvSpPr>
        <p:spPr>
          <a:xfrm>
            <a:off x="5029199" y="310896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Drum samples</a:t>
            </a:r>
            <a:endParaRPr/>
          </a:p>
        </p:txBody>
      </p:sp>
      <p:sp>
        <p:nvSpPr>
          <p:cNvPr id="394" name="Google Shape;394;p21"/>
          <p:cNvSpPr txBox="1"/>
          <p:nvPr/>
        </p:nvSpPr>
        <p:spPr>
          <a:xfrm>
            <a:off x="4754879" y="35204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395" name="Google Shape;395;p21"/>
          <p:cNvSpPr txBox="1"/>
          <p:nvPr/>
        </p:nvSpPr>
        <p:spPr>
          <a:xfrm>
            <a:off x="5029199" y="352044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Slakh grids (2,450)</a:t>
            </a:r>
            <a:endParaRPr/>
          </a:p>
        </p:txBody>
      </p:sp>
      <p:sp>
        <p:nvSpPr>
          <p:cNvPr id="396" name="Google Shape;396;p21"/>
          <p:cNvSpPr txBox="1"/>
          <p:nvPr/>
        </p:nvSpPr>
        <p:spPr>
          <a:xfrm>
            <a:off x="4754879" y="393192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/>
          </a:p>
        </p:txBody>
      </p:sp>
      <p:sp>
        <p:nvSpPr>
          <p:cNvPr id="397" name="Google Shape;397;p21"/>
          <p:cNvSpPr txBox="1"/>
          <p:nvPr/>
        </p:nvSpPr>
        <p:spPr>
          <a:xfrm>
            <a:off x="5029199" y="393192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Melody/Pad/FX samples</a:t>
            </a:r>
            <a:endParaRPr/>
          </a:p>
        </p:txBody>
      </p:sp>
      <p:sp>
        <p:nvSpPr>
          <p:cNvPr id="398" name="Google Shape;398;p21"/>
          <p:cNvSpPr txBox="1"/>
          <p:nvPr/>
        </p:nvSpPr>
        <p:spPr>
          <a:xfrm>
            <a:off x="4754879" y="434340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/>
          </a:p>
        </p:txBody>
      </p:sp>
      <p:sp>
        <p:nvSpPr>
          <p:cNvPr id="399" name="Google Shape;399;p21"/>
          <p:cNvSpPr txBox="1"/>
          <p:nvPr/>
        </p:nvSpPr>
        <p:spPr>
          <a:xfrm>
            <a:off x="5029199" y="43434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L1 discriminator</a:t>
            </a:r>
            <a:endParaRPr/>
          </a:p>
        </p:txBody>
      </p:sp>
      <p:sp>
        <p:nvSpPr>
          <p:cNvPr id="400" name="Google Shape;400;p21"/>
          <p:cNvSpPr txBox="1"/>
          <p:nvPr/>
        </p:nvSpPr>
        <p:spPr>
          <a:xfrm>
            <a:off x="4754879" y="475488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/>
          </a:p>
        </p:txBody>
      </p:sp>
      <p:sp>
        <p:nvSpPr>
          <p:cNvPr id="401" name="Google Shape;401;p21"/>
          <p:cNvSpPr txBox="1"/>
          <p:nvPr/>
        </p:nvSpPr>
        <p:spPr>
          <a:xfrm>
            <a:off x="5029199" y="47548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Expanded action space</a:t>
            </a:r>
            <a:endParaRPr/>
          </a:p>
        </p:txBody>
      </p:sp>
      <p:sp>
        <p:nvSpPr>
          <p:cNvPr id="402" name="Google Shape;402;p21"/>
          <p:cNvSpPr/>
          <p:nvPr/>
        </p:nvSpPr>
        <p:spPr>
          <a:xfrm>
            <a:off x="8229600" y="1737360"/>
            <a:ext cx="338328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8229600" y="1737360"/>
            <a:ext cx="33832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1"/>
          <p:cNvSpPr txBox="1"/>
          <p:nvPr/>
        </p:nvSpPr>
        <p:spPr>
          <a:xfrm>
            <a:off x="8412480" y="196596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Phase 3: Audio Effects</a:t>
            </a:r>
            <a:endParaRPr/>
          </a:p>
        </p:txBody>
      </p:sp>
      <p:sp>
        <p:nvSpPr>
          <p:cNvPr id="405" name="Google Shape;405;p21"/>
          <p:cNvSpPr/>
          <p:nvPr/>
        </p:nvSpPr>
        <p:spPr>
          <a:xfrm>
            <a:off x="8412480" y="2606040"/>
            <a:ext cx="1371600" cy="320040"/>
          </a:xfrm>
          <a:prstGeom prst="roundRect">
            <a:avLst>
              <a:gd fmla="val 16667" name="adj"/>
            </a:avLst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1"/>
          <p:cNvSpPr txBox="1"/>
          <p:nvPr/>
        </p:nvSpPr>
        <p:spPr>
          <a:xfrm>
            <a:off x="8412480" y="26060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READY</a:t>
            </a:r>
            <a:endParaRPr/>
          </a:p>
        </p:txBody>
      </p:sp>
      <p:sp>
        <p:nvSpPr>
          <p:cNvPr id="407" name="Google Shape;407;p21"/>
          <p:cNvSpPr txBox="1"/>
          <p:nvPr/>
        </p:nvSpPr>
        <p:spPr>
          <a:xfrm>
            <a:off x="8503920" y="310896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408" name="Google Shape;408;p21"/>
          <p:cNvSpPr txBox="1"/>
          <p:nvPr/>
        </p:nvSpPr>
        <p:spPr>
          <a:xfrm>
            <a:off x="8778240" y="310896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MUSDB18 spectrograms (31,323)</a:t>
            </a:r>
            <a:endParaRPr/>
          </a:p>
        </p:txBody>
      </p:sp>
      <p:sp>
        <p:nvSpPr>
          <p:cNvPr id="409" name="Google Shape;409;p21"/>
          <p:cNvSpPr txBox="1"/>
          <p:nvPr/>
        </p:nvSpPr>
        <p:spPr>
          <a:xfrm>
            <a:off x="8503920" y="35204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/>
          </a:p>
        </p:txBody>
      </p:sp>
      <p:sp>
        <p:nvSpPr>
          <p:cNvPr id="410" name="Google Shape;410;p21"/>
          <p:cNvSpPr txBox="1"/>
          <p:nvPr/>
        </p:nvSpPr>
        <p:spPr>
          <a:xfrm>
            <a:off x="8778240" y="352044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AST model</a:t>
            </a:r>
            <a:endParaRPr/>
          </a:p>
        </p:txBody>
      </p:sp>
      <p:sp>
        <p:nvSpPr>
          <p:cNvPr id="411" name="Google Shape;411;p21"/>
          <p:cNvSpPr txBox="1"/>
          <p:nvPr/>
        </p:nvSpPr>
        <p:spPr>
          <a:xfrm>
            <a:off x="8503920" y="393192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/>
          </a:p>
        </p:txBody>
      </p:sp>
      <p:sp>
        <p:nvSpPr>
          <p:cNvPr id="412" name="Google Shape;412;p21"/>
          <p:cNvSpPr txBox="1"/>
          <p:nvPr/>
        </p:nvSpPr>
        <p:spPr>
          <a:xfrm>
            <a:off x="8778240" y="393192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SAC algorithm</a:t>
            </a:r>
            <a:endParaRPr/>
          </a:p>
        </p:txBody>
      </p:sp>
      <p:sp>
        <p:nvSpPr>
          <p:cNvPr id="413" name="Google Shape;413;p21"/>
          <p:cNvSpPr txBox="1"/>
          <p:nvPr/>
        </p:nvSpPr>
        <p:spPr>
          <a:xfrm>
            <a:off x="8503920" y="434340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/>
          </a:p>
        </p:txBody>
      </p:sp>
      <p:sp>
        <p:nvSpPr>
          <p:cNvPr id="414" name="Google Shape;414;p21"/>
          <p:cNvSpPr txBox="1"/>
          <p:nvPr/>
        </p:nvSpPr>
        <p:spPr>
          <a:xfrm>
            <a:off x="8778240" y="43434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Audio renderer</a:t>
            </a:r>
            <a:endParaRPr/>
          </a:p>
        </p:txBody>
      </p:sp>
      <p:sp>
        <p:nvSpPr>
          <p:cNvPr id="415" name="Google Shape;415;p21"/>
          <p:cNvSpPr txBox="1"/>
          <p:nvPr/>
        </p:nvSpPr>
        <p:spPr>
          <a:xfrm>
            <a:off x="8503920" y="475488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/>
          </a:p>
        </p:txBody>
      </p:sp>
      <p:sp>
        <p:nvSpPr>
          <p:cNvPr id="416" name="Google Shape;416;p21"/>
          <p:cNvSpPr txBox="1"/>
          <p:nvPr/>
        </p:nvSpPr>
        <p:spPr>
          <a:xfrm>
            <a:off x="8778240" y="47548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Effect parameter heads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Next Steps</a:t>
            </a:r>
            <a:endParaRPr/>
          </a:p>
        </p:txBody>
      </p:sp>
      <p:sp>
        <p:nvSpPr>
          <p:cNvPr id="423" name="Google Shape;423;p22"/>
          <p:cNvSpPr/>
          <p:nvPr/>
        </p:nvSpPr>
        <p:spPr>
          <a:xfrm>
            <a:off x="731520" y="1463040"/>
            <a:ext cx="1188720" cy="320040"/>
          </a:xfrm>
          <a:prstGeom prst="roundRect">
            <a:avLst>
              <a:gd fmla="val 16667" name="adj"/>
            </a:avLst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2"/>
          <p:cNvSpPr txBox="1"/>
          <p:nvPr/>
        </p:nvSpPr>
        <p:spPr>
          <a:xfrm>
            <a:off x="731520" y="146304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/>
          </a:p>
        </p:txBody>
      </p:sp>
      <p:sp>
        <p:nvSpPr>
          <p:cNvPr id="425" name="Google Shape;425;p22"/>
          <p:cNvSpPr txBox="1"/>
          <p:nvPr/>
        </p:nvSpPr>
        <p:spPr>
          <a:xfrm>
            <a:off x="2103120" y="1417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BeatGridEnv</a:t>
            </a:r>
            <a:endParaRPr/>
          </a:p>
        </p:txBody>
      </p:sp>
      <p:sp>
        <p:nvSpPr>
          <p:cNvPr id="426" name="Google Shape;426;p22"/>
          <p:cNvSpPr txBox="1"/>
          <p:nvPr/>
        </p:nvSpPr>
        <p:spPr>
          <a:xfrm>
            <a:off x="2103120" y="1783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Gymnasium environment with 8×16 grid, MultiDiscrete action space, phase masking</a:t>
            </a:r>
            <a:endParaRPr/>
          </a:p>
        </p:txBody>
      </p:sp>
      <p:sp>
        <p:nvSpPr>
          <p:cNvPr id="427" name="Google Shape;427;p22"/>
          <p:cNvSpPr/>
          <p:nvPr/>
        </p:nvSpPr>
        <p:spPr>
          <a:xfrm>
            <a:off x="731520" y="2240280"/>
            <a:ext cx="1188720" cy="320040"/>
          </a:xfrm>
          <a:prstGeom prst="roundRect">
            <a:avLst>
              <a:gd fmla="val 16667" name="adj"/>
            </a:avLst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2"/>
          <p:cNvSpPr txBox="1"/>
          <p:nvPr/>
        </p:nvSpPr>
        <p:spPr>
          <a:xfrm>
            <a:off x="731520" y="224028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/>
          </a:p>
        </p:txBody>
      </p:sp>
      <p:sp>
        <p:nvSpPr>
          <p:cNvPr id="429" name="Google Shape;429;p22"/>
          <p:cNvSpPr txBox="1"/>
          <p:nvPr/>
        </p:nvSpPr>
        <p:spPr>
          <a:xfrm>
            <a:off x="2103120" y="2194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 reward functions</a:t>
            </a:r>
            <a:endParaRPr/>
          </a:p>
        </p:txBody>
      </p:sp>
      <p:sp>
        <p:nvSpPr>
          <p:cNvPr id="430" name="Google Shape;430;p22"/>
          <p:cNvSpPr txBox="1"/>
          <p:nvPr/>
        </p:nvSpPr>
        <p:spPr>
          <a:xfrm>
            <a:off x="2103120" y="2560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 rule-based sub-rewards + compatibility scoring, tested on hand-crafted grids</a:t>
            </a:r>
            <a:endParaRPr/>
          </a:p>
        </p:txBody>
      </p:sp>
      <p:sp>
        <p:nvSpPr>
          <p:cNvPr id="431" name="Google Shape;431;p22"/>
          <p:cNvSpPr/>
          <p:nvPr/>
        </p:nvSpPr>
        <p:spPr>
          <a:xfrm>
            <a:off x="731520" y="3017520"/>
            <a:ext cx="1188720" cy="320040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2"/>
          <p:cNvSpPr txBox="1"/>
          <p:nvPr/>
        </p:nvSpPr>
        <p:spPr>
          <a:xfrm>
            <a:off x="731520" y="301752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/>
          </a:p>
        </p:txBody>
      </p:sp>
      <p:sp>
        <p:nvSpPr>
          <p:cNvPr id="433" name="Google Shape;433;p22"/>
          <p:cNvSpPr txBox="1"/>
          <p:nvPr/>
        </p:nvSpPr>
        <p:spPr>
          <a:xfrm>
            <a:off x="2103120" y="2971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policy/critic networks</a:t>
            </a:r>
            <a:endParaRPr/>
          </a:p>
        </p:txBody>
      </p:sp>
      <p:sp>
        <p:nvSpPr>
          <p:cNvPr id="434" name="Google Shape;434;p22"/>
          <p:cNvSpPr txBox="1"/>
          <p:nvPr/>
        </p:nvSpPr>
        <p:spPr>
          <a:xfrm>
            <a:off x="2103120" y="3337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CNN + embedding feature extractor, 3 action heads (layer, step, sample)</a:t>
            </a:r>
            <a:endParaRPr/>
          </a:p>
        </p:txBody>
      </p:sp>
      <p:sp>
        <p:nvSpPr>
          <p:cNvPr id="435" name="Google Shape;435;p22"/>
          <p:cNvSpPr/>
          <p:nvPr/>
        </p:nvSpPr>
        <p:spPr>
          <a:xfrm>
            <a:off x="731520" y="3794760"/>
            <a:ext cx="1188720" cy="320040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2"/>
          <p:cNvSpPr txBox="1"/>
          <p:nvPr/>
        </p:nvSpPr>
        <p:spPr>
          <a:xfrm>
            <a:off x="731520" y="379476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/>
          </a:p>
        </p:txBody>
      </p:sp>
      <p:sp>
        <p:nvSpPr>
          <p:cNvPr id="437" name="Google Shape;437;p22"/>
          <p:cNvSpPr txBox="1"/>
          <p:nvPr/>
        </p:nvSpPr>
        <p:spPr>
          <a:xfrm>
            <a:off x="2103120" y="37490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 Phase 1 (rules only)</a:t>
            </a:r>
            <a:endParaRPr/>
          </a:p>
        </p:txBody>
      </p:sp>
      <p:sp>
        <p:nvSpPr>
          <p:cNvPr id="438" name="Google Shape;438;p22"/>
          <p:cNvSpPr txBox="1"/>
          <p:nvPr/>
        </p:nvSpPr>
        <p:spPr>
          <a:xfrm>
            <a:off x="2103120" y="41148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PPO agent learns drum patterns — our first sanity check</a:t>
            </a:r>
            <a:endParaRPr/>
          </a:p>
        </p:txBody>
      </p:sp>
      <p:sp>
        <p:nvSpPr>
          <p:cNvPr id="439" name="Google Shape;439;p22"/>
          <p:cNvSpPr/>
          <p:nvPr/>
        </p:nvSpPr>
        <p:spPr>
          <a:xfrm>
            <a:off x="731520" y="4572000"/>
            <a:ext cx="1188720" cy="320040"/>
          </a:xfrm>
          <a:prstGeom prst="roundRect">
            <a:avLst>
              <a:gd fmla="val 16667" name="adj"/>
            </a:avLst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2"/>
          <p:cNvSpPr txBox="1"/>
          <p:nvPr/>
        </p:nvSpPr>
        <p:spPr>
          <a:xfrm>
            <a:off x="731520" y="457200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BEFORE P2</a:t>
            </a:r>
            <a:endParaRPr/>
          </a:p>
        </p:txBody>
      </p:sp>
      <p:sp>
        <p:nvSpPr>
          <p:cNvPr id="441" name="Google Shape;441;p22"/>
          <p:cNvSpPr txBox="1"/>
          <p:nvPr/>
        </p:nvSpPr>
        <p:spPr>
          <a:xfrm>
            <a:off x="2103120" y="45262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Fix melody/pad/fx samples</a:t>
            </a:r>
            <a:endParaRPr/>
          </a:p>
        </p:txBody>
      </p:sp>
      <p:sp>
        <p:nvSpPr>
          <p:cNvPr id="442" name="Google Shape;442;p22"/>
          <p:cNvSpPr txBox="1"/>
          <p:nvPr/>
        </p:nvSpPr>
        <p:spPr>
          <a:xfrm>
            <a:off x="2103120" y="48920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Re-run Freesound API with relaxed queries for tonal categories</a:t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731520" y="5349240"/>
            <a:ext cx="1188720" cy="320040"/>
          </a:xfrm>
          <a:prstGeom prst="roundRect">
            <a:avLst>
              <a:gd fmla="val 16667" name="adj"/>
            </a:avLst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2"/>
          <p:cNvSpPr txBox="1"/>
          <p:nvPr/>
        </p:nvSpPr>
        <p:spPr>
          <a:xfrm>
            <a:off x="731520" y="534924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/>
          </a:p>
        </p:txBody>
      </p:sp>
      <p:sp>
        <p:nvSpPr>
          <p:cNvPr id="445" name="Google Shape;445;p22"/>
          <p:cNvSpPr txBox="1"/>
          <p:nvPr/>
        </p:nvSpPr>
        <p:spPr>
          <a:xfrm>
            <a:off x="2103120" y="5303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L1 discriminator</a:t>
            </a:r>
            <a:endParaRPr/>
          </a:p>
        </p:txBody>
      </p:sp>
      <p:sp>
        <p:nvSpPr>
          <p:cNvPr id="446" name="Google Shape;446;p22"/>
          <p:cNvSpPr txBox="1"/>
          <p:nvPr/>
        </p:nvSpPr>
        <p:spPr>
          <a:xfrm>
            <a:off x="2103120" y="5669279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Custom transformer encoder trained on Groove MIDI + Slakh grids</a:t>
            </a:r>
            <a:endParaRPr/>
          </a:p>
        </p:txBody>
      </p:sp>
      <p:sp>
        <p:nvSpPr>
          <p:cNvPr id="447" name="Google Shape;447;p2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2"/>
          <p:cNvSpPr txBox="1"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loading complete — ready to build the environment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